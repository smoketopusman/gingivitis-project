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6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7" r:id="rId30"/>
    <p:sldId id="288" r:id="rId31"/>
    <p:sldId id="289" r:id="rId32"/>
    <p:sldId id="290" r:id="rId33"/>
    <p:sldId id="291" r:id="rId34"/>
    <p:sldId id="292" r:id="rId35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1E5B"/>
    <a:srgbClr val="E8F4F8"/>
    <a:srgbClr val="0A24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48912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9144000" cy="3429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9144000" cy="3429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3720103"/>
            <a:ext cx="5829300" cy="1097280"/>
          </a:xfrm>
        </p:spPr>
        <p:txBody>
          <a:bodyPr anchor="ctr">
            <a:normAutofit/>
          </a:bodyPr>
          <a:lstStyle>
            <a:lvl1pPr algn="r">
              <a:defRPr sz="3750" spc="15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3720103"/>
            <a:ext cx="2400300" cy="109728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35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 algn="ctr">
              <a:buNone/>
              <a:defRPr sz="135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350"/>
            </a:lvl4pPr>
            <a:lvl5pPr marL="1371600" indent="0" algn="ctr">
              <a:buNone/>
              <a:defRPr sz="1350"/>
            </a:lvl5pPr>
            <a:lvl6pPr marL="1714500" indent="0" algn="ctr">
              <a:buNone/>
              <a:defRPr sz="1350"/>
            </a:lvl6pPr>
            <a:lvl7pPr marL="2057400" indent="0" algn="ctr">
              <a:buNone/>
              <a:defRPr sz="1350"/>
            </a:lvl7pPr>
            <a:lvl8pPr marL="2400300" indent="0" algn="ctr">
              <a:buNone/>
              <a:defRPr sz="1350"/>
            </a:lvl8pPr>
            <a:lvl9pPr marL="2743200" indent="0" algn="ctr">
              <a:buNone/>
              <a:defRPr sz="135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6AD6EE87-EBD5-4F12-A48A-63ACA297AC8F}" type="datetimeFigureOut">
              <a:rPr lang="en-US" smtClean="0"/>
              <a:t>12/17/2025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3948080"/>
            <a:ext cx="0" cy="6858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6093116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3794B-289A-4A80-97D7-111025398D45}" type="datetimeFigureOut">
              <a:rPr lang="en-US" smtClean="0"/>
              <a:t>12/17/2025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0213313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3429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9144000" cy="3429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720103"/>
            <a:ext cx="5829300" cy="1097280"/>
          </a:xfrm>
        </p:spPr>
        <p:txBody>
          <a:bodyPr anchor="ctr">
            <a:normAutofit/>
          </a:bodyPr>
          <a:lstStyle>
            <a:lvl1pPr algn="r">
              <a:defRPr sz="3750" b="0" spc="15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3720103"/>
            <a:ext cx="2400300" cy="109728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35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1015F-7CC6-4D0A-9D87-873EA4C304CC}" type="datetimeFigureOut">
              <a:rPr lang="en-US" smtClean="0"/>
              <a:t>12/17/2025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3948080"/>
            <a:ext cx="0" cy="6858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167502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438912"/>
            <a:ext cx="7290054" cy="11247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5" y="1714500"/>
            <a:ext cx="3566160" cy="3017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1714500"/>
            <a:ext cx="3566160" cy="3017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6A301-0538-44EC-B09D-202E1042A48B}" type="datetimeFigureOut">
              <a:rPr lang="en-US" smtClean="0"/>
              <a:t>12/17/2025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0379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1634727"/>
            <a:ext cx="3566160" cy="61722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725" b="0" cap="none" baseline="0">
                <a:solidFill>
                  <a:schemeClr val="accent1"/>
                </a:solidFill>
                <a:latin typeface="+mn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225841"/>
            <a:ext cx="3566160" cy="25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3166" y="1634727"/>
            <a:ext cx="3566160" cy="61722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725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marL="0" lvl="0" indent="0" algn="l" defTabSz="685800" rtl="0" eaLnBrk="1" latinLnBrk="0" hangingPunct="1">
              <a:lnSpc>
                <a:spcPct val="90000"/>
              </a:lnSpc>
              <a:spcBef>
                <a:spcPts val="135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3166" y="2225841"/>
            <a:ext cx="3566160" cy="25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9574A-8875-45EF-8EA2-3CAA0F7ABC4C}" type="datetimeFigureOut">
              <a:rPr lang="en-US" smtClean="0"/>
              <a:t>12/17/2025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343090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F4D4C-5367-4C26-9E2B-D8088D7FCA81}" type="datetimeFigureOut">
              <a:rPr lang="en-US" smtClean="0"/>
              <a:t>12/17/2025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555763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91E96-98B0-4413-9547-46F3504108EF}" type="datetimeFigureOut">
              <a:rPr lang="en-US" smtClean="0"/>
              <a:t>12/17/2025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1926296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353632"/>
            <a:ext cx="3291840" cy="130302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617220"/>
            <a:ext cx="4258818" cy="388848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1693129"/>
            <a:ext cx="3291840" cy="2821721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450"/>
              </a:spcBef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68B11-C5A8-448C-8CE9-B1A273C79CFC}" type="datetimeFigureOut">
              <a:rPr lang="en-US" smtClean="0"/>
              <a:t>12/17/2025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7798424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720104"/>
            <a:ext cx="5829300" cy="1097280"/>
          </a:xfrm>
        </p:spPr>
        <p:txBody>
          <a:bodyPr anchor="ctr">
            <a:normAutofit/>
          </a:bodyPr>
          <a:lstStyle>
            <a:lvl1pPr algn="r">
              <a:defRPr sz="3750" spc="15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3429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3720104"/>
            <a:ext cx="2400300" cy="109728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35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16CA0-919D-4A49-9C8A-62FDFB3A5183}" type="datetimeFigureOut">
              <a:rPr lang="en-US" smtClean="0"/>
              <a:t>12/17/2025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E5644-1E61-4311-A31E-84CB9C7AA8A9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3948080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630613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73815-2707-4475-8F1A-B873CB631BB4}" type="datetimeFigureOut">
              <a:rPr lang="en-US" smtClean="0"/>
              <a:t>12/17/2025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163704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571500"/>
            <a:ext cx="1971675" cy="405765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571500"/>
            <a:ext cx="5686425" cy="40576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AFB99-0EAB-4182-AFF8-E214C82A68F6}" type="datetimeFigureOut">
              <a:rPr lang="en-US" smtClean="0"/>
              <a:t>12/17/2025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44447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244474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65864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438912"/>
            <a:ext cx="7290054" cy="1124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1714500"/>
            <a:ext cx="7290055" cy="301752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4853028"/>
            <a:ext cx="1615607" cy="2057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90298CD5-6C1E-4009-B41F-6DF62E31D3BE}" type="datetimeFigureOut">
              <a:rPr lang="en-US" smtClean="0"/>
              <a:pPr/>
              <a:t>12/17/2025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4853028"/>
            <a:ext cx="4426094" cy="2057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4853028"/>
            <a:ext cx="730250" cy="2057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61974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4616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hf sldNum="0" hdr="0" ftr="0" dt="0"/>
  <p:txStyles>
    <p:titleStyle>
      <a:lvl1pPr algn="l" defTabSz="685800" rtl="0" eaLnBrk="1" latinLnBrk="0" hangingPunct="1">
        <a:lnSpc>
          <a:spcPct val="80000"/>
        </a:lnSpc>
        <a:spcBef>
          <a:spcPct val="0"/>
        </a:spcBef>
        <a:buNone/>
        <a:defRPr sz="3750" kern="1200" cap="all" spc="75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1650" kern="1200">
          <a:solidFill>
            <a:schemeClr val="tx1"/>
          </a:solidFill>
          <a:latin typeface="+mn-lt"/>
          <a:ea typeface="+mn-ea"/>
          <a:cs typeface="+mn-cs"/>
        </a:defRPr>
      </a:lvl1pPr>
      <a:lvl2pPr marL="198882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336042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445770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582930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795528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912114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1021842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52400" cy="5143500"/>
          </a:xfrm>
          <a:prstGeom prst="rect">
            <a:avLst/>
          </a:prstGeom>
          <a:solidFill>
            <a:srgbClr val="FB8B2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886700" y="964109"/>
            <a:ext cx="762000" cy="57150"/>
          </a:xfrm>
          <a:prstGeom prst="rect">
            <a:avLst/>
          </a:prstGeom>
          <a:solidFill>
            <a:srgbClr val="D81E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616767" y="1040309"/>
            <a:ext cx="4031933" cy="1287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4620"/>
              </a:lnSpc>
              <a:spcAft>
                <a:spcPts val="1500"/>
              </a:spcAft>
              <a:buNone/>
            </a:pPr>
            <a:r>
              <a:rPr lang="en-US" sz="4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זיהוי דלקת חניכיים</a:t>
            </a:r>
            <a:endParaRPr lang="en-US" sz="4200" dirty="0"/>
          </a:p>
          <a:p>
            <a:pPr marL="0" indent="0" algn="r" rtl="1">
              <a:lnSpc>
                <a:spcPts val="4620"/>
              </a:lnSpc>
              <a:spcAft>
                <a:spcPts val="1500"/>
              </a:spcAft>
              <a:buNone/>
            </a:pPr>
            <a:r>
              <a:rPr lang="en-US" sz="4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בעזרת רשת נוירונים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23316" y="2556570"/>
            <a:ext cx="8044434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3E9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 Research Project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81050" y="2948880"/>
            <a:ext cx="7886700" cy="1287661"/>
          </a:xfrm>
          <a:prstGeom prst="roundRect">
            <a:avLst>
              <a:gd name="adj" fmla="val 2959"/>
            </a:avLst>
          </a:prstGeom>
          <a:solidFill>
            <a:srgbClr val="FFFFFF">
              <a:alpha val="8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8648700" y="2948880"/>
            <a:ext cx="0" cy="1287661"/>
          </a:xfrm>
          <a:prstGeom prst="line">
            <a:avLst/>
          </a:prstGeom>
          <a:noFill/>
          <a:ln w="38100">
            <a:solidFill>
              <a:srgbClr val="FB8B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1822" y="3177480"/>
            <a:ext cx="7539228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9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אמיר </a:t>
            </a:r>
            <a:r>
              <a:rPr lang="en-US" sz="135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עזרא</a:t>
            </a: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סורני</a:t>
            </a:r>
            <a:r>
              <a:rPr lang="he-IL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דניאל יהושוע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61822" y="3531691"/>
            <a:ext cx="753922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575"/>
              </a:lnSpc>
              <a:spcAft>
                <a:spcPts val="600"/>
              </a:spcAft>
              <a:buNone/>
            </a:pPr>
            <a:r>
              <a:rPr lang="en-US" sz="1125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בהנחיית: </a:t>
            </a:r>
            <a:r>
              <a:rPr lang="he-IL" sz="1125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אורי</a:t>
            </a:r>
            <a:r>
              <a:rPr lang="en-US" sz="1125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בריט</a:t>
            </a:r>
            <a:r>
              <a:rPr lang="he-IL" sz="1125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שמעון ברבי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861822" y="3807916"/>
            <a:ext cx="753922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575"/>
              </a:lnSpc>
              <a:buNone/>
            </a:pPr>
            <a:r>
              <a:rPr lang="en-US" sz="1125" dirty="0" err="1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הטכניון</a:t>
            </a:r>
            <a:r>
              <a:rPr lang="en-US" sz="1125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r>
              <a:rPr lang="he-IL" sz="1125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מכון</a:t>
            </a:r>
            <a:r>
              <a:rPr lang="en-US" sz="1125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טכנולוגי לישראל</a:t>
            </a:r>
            <a:endParaRPr lang="en-US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09638"/>
            <a:ext cx="9144000" cy="0"/>
          </a:xfrm>
          <a:prstGeom prst="line">
            <a:avLst/>
          </a:prstGeom>
          <a:noFill/>
          <a:ln w="28575">
            <a:solidFill>
              <a:srgbClr val="0A24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321493" y="0"/>
            <a:ext cx="4517708" cy="895350"/>
          </a:xfrm>
          <a:prstGeom prst="rect">
            <a:avLst/>
          </a:prstGeom>
          <a:noFill/>
          <a:ln/>
        </p:spPr>
        <p:txBody>
          <a:bodyPr wrap="square" lIns="285750" tIns="323850" rIns="285750" bIns="171450" rtlCol="0" anchor="t"/>
          <a:lstStyle/>
          <a:p>
            <a:pPr marL="0" indent="0" algn="r">
              <a:lnSpc>
                <a:spcPts val="3150"/>
              </a:lnSpc>
              <a:buNone/>
            </a:pPr>
            <a:r>
              <a:rPr lang="en-US" sz="3150" b="1" dirty="0">
                <a:solidFill>
                  <a:srgbClr val="0A24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שיתוף פעולה מחקרי</a:t>
            </a:r>
            <a:endParaRPr lang="en-US" sz="3150" dirty="0"/>
          </a:p>
        </p:txBody>
      </p:sp>
      <p:sp>
        <p:nvSpPr>
          <p:cNvPr id="4" name="Text 2"/>
          <p:cNvSpPr/>
          <p:nvPr/>
        </p:nvSpPr>
        <p:spPr>
          <a:xfrm>
            <a:off x="685800" y="1549747"/>
            <a:ext cx="8077200" cy="9029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19050" dir="5400000" algn="bl" rotWithShape="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723900" y="1549747"/>
            <a:ext cx="0" cy="902940"/>
          </a:xfrm>
          <a:prstGeom prst="line">
            <a:avLst/>
          </a:prstGeom>
          <a:noFill/>
          <a:ln w="76200">
            <a:solidFill>
              <a:srgbClr val="0A24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8972" y="1854547"/>
            <a:ext cx="7539228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2310"/>
              </a:lnSpc>
              <a:buNone/>
            </a:pPr>
            <a:r>
              <a:rPr lang="en-US" sz="1650" b="1" dirty="0">
                <a:solidFill>
                  <a:srgbClr val="0A24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הפרויקט נעשה בשיתוף פעולה מחקרי הדוק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685800" y="2681288"/>
            <a:ext cx="8077200" cy="883890"/>
          </a:xfrm>
          <a:prstGeom prst="rect">
            <a:avLst/>
          </a:prstGeom>
          <a:solidFill>
            <a:srgbClr val="0A246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41248" y="2986088"/>
            <a:ext cx="761695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216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שותפות עם רופאי שיניים מומחים לקבלת דאטה והנחיה קלינית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3793778"/>
            <a:ext cx="8077200" cy="8763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19050" dir="5400000" algn="bl" rotWithShape="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23900" y="3793778"/>
            <a:ext cx="0" cy="876300"/>
          </a:xfrm>
          <a:prstGeom prst="line">
            <a:avLst/>
          </a:prstGeom>
          <a:noFill/>
          <a:ln w="76200">
            <a:solidFill>
              <a:srgbClr val="D81E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18972" y="4098578"/>
            <a:ext cx="753922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0A24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</a:t>
            </a:r>
            <a:r>
              <a:rPr lang="en-US" sz="1500" b="1" dirty="0">
                <a:solidFill>
                  <a:srgbClr val="0A24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r>
              <a:rPr lang="he-IL" sz="1500" b="1" dirty="0">
                <a:solidFill>
                  <a:srgbClr val="0A24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b="1" dirty="0" err="1">
                <a:solidFill>
                  <a:srgbClr val="0A24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שילוב</a:t>
            </a:r>
            <a:r>
              <a:rPr lang="en-US" sz="1500" b="1" dirty="0">
                <a:solidFill>
                  <a:srgbClr val="0A24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ידע רפואי עם יכולות למידה עמוקה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09638"/>
            <a:ext cx="9144000" cy="0"/>
          </a:xfrm>
          <a:prstGeom prst="line">
            <a:avLst/>
          </a:prstGeom>
          <a:noFill/>
          <a:ln w="28575">
            <a:solidFill>
              <a:srgbClr val="0A24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321493" y="0"/>
            <a:ext cx="4517708" cy="895350"/>
          </a:xfrm>
          <a:prstGeom prst="rect">
            <a:avLst/>
          </a:prstGeom>
          <a:noFill/>
          <a:ln/>
        </p:spPr>
        <p:txBody>
          <a:bodyPr wrap="square" lIns="285750" tIns="323850" rIns="285750" bIns="171450" rtlCol="0" anchor="t"/>
          <a:lstStyle/>
          <a:p>
            <a:pPr marL="0" indent="0" algn="r" rtl="1">
              <a:lnSpc>
                <a:spcPts val="3150"/>
              </a:lnSpc>
              <a:buNone/>
            </a:pPr>
            <a:r>
              <a:rPr lang="en-US" sz="3150" b="1" dirty="0" err="1">
                <a:solidFill>
                  <a:srgbClr val="0A24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הבעיה</a:t>
            </a:r>
            <a:r>
              <a:rPr lang="he-IL" sz="3150" b="1" dirty="0">
                <a:solidFill>
                  <a:srgbClr val="0A24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3150" b="1" dirty="0">
                <a:solidFill>
                  <a:srgbClr val="0A24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</a:t>
            </a:r>
            <a:r>
              <a:rPr lang="he-IL" sz="3150" b="1" dirty="0">
                <a:solidFill>
                  <a:srgbClr val="0A24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3150" b="1" dirty="0" err="1">
                <a:solidFill>
                  <a:srgbClr val="0A24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דלקת</a:t>
            </a:r>
            <a:r>
              <a:rPr lang="en-US" sz="3150" b="1" dirty="0">
                <a:solidFill>
                  <a:srgbClr val="0A24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חניכיים</a:t>
            </a:r>
            <a:endParaRPr lang="en-US" sz="3150" dirty="0"/>
          </a:p>
        </p:txBody>
      </p:sp>
      <p:sp>
        <p:nvSpPr>
          <p:cNvPr id="4" name="Text 2"/>
          <p:cNvSpPr/>
          <p:nvPr/>
        </p:nvSpPr>
        <p:spPr>
          <a:xfrm>
            <a:off x="685800" y="1727150"/>
            <a:ext cx="1310283" cy="27655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714375" y="1727150"/>
            <a:ext cx="0" cy="2765524"/>
          </a:xfrm>
          <a:prstGeom prst="line">
            <a:avLst/>
          </a:prstGeom>
          <a:noFill/>
          <a:ln w="57150">
            <a:solidFill>
              <a:srgbClr val="3E92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95255" y="1993850"/>
            <a:ext cx="73412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470"/>
              </a:lnSpc>
              <a:spcAft>
                <a:spcPts val="750"/>
              </a:spcAft>
              <a:buNone/>
            </a:pPr>
            <a:r>
              <a:rPr lang="en-US" sz="1050" b="1" dirty="0">
                <a:solidFill>
                  <a:srgbClr val="D81E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הגדרה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95255" y="2275731"/>
            <a:ext cx="734127" cy="1950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דלקת חניכיים (Gingivitis) - אחת המחלות הכרוניות הנפוצות בעולם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186583" y="1727150"/>
            <a:ext cx="1309092" cy="27655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2215158" y="1727150"/>
            <a:ext cx="0" cy="2765524"/>
          </a:xfrm>
          <a:prstGeom prst="line">
            <a:avLst/>
          </a:prstGeom>
          <a:noFill/>
          <a:ln w="57150">
            <a:solidFill>
              <a:srgbClr val="3E92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496062" y="1993850"/>
            <a:ext cx="732913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470"/>
              </a:lnSpc>
              <a:spcAft>
                <a:spcPts val="750"/>
              </a:spcAft>
              <a:buNone/>
            </a:pPr>
            <a:r>
              <a:rPr lang="en-US" sz="1050" b="1" dirty="0">
                <a:solidFill>
                  <a:srgbClr val="D81E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שכיחות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496062" y="2275731"/>
            <a:ext cx="732913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משפיעה </a:t>
            </a:r>
            <a:r>
              <a:rPr lang="en-US" sz="1200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</a:t>
            </a: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e-IL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כ-</a:t>
            </a: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 מאוכלוסיית המבוגרים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86175" y="1727150"/>
            <a:ext cx="5076825" cy="2765524"/>
          </a:xfrm>
          <a:prstGeom prst="rect">
            <a:avLst/>
          </a:prstGeom>
          <a:solidFill>
            <a:srgbClr val="0A246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862007" y="1955750"/>
            <a:ext cx="46342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575"/>
              </a:lnSpc>
              <a:buNone/>
            </a:pPr>
            <a:r>
              <a:rPr lang="en-US" sz="11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מתחילה כזיהום חיידקי קל אך עלולה להחמיר לפריודונטיטיס</a:t>
            </a:r>
            <a:endParaRPr lang="en-US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09638"/>
            <a:ext cx="9144000" cy="0"/>
          </a:xfrm>
          <a:prstGeom prst="line">
            <a:avLst/>
          </a:prstGeom>
          <a:noFill/>
          <a:ln w="28575">
            <a:solidFill>
              <a:srgbClr val="0A24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321493" y="0"/>
            <a:ext cx="4517708" cy="895350"/>
          </a:xfrm>
          <a:prstGeom prst="rect">
            <a:avLst/>
          </a:prstGeom>
          <a:noFill/>
          <a:ln/>
        </p:spPr>
        <p:txBody>
          <a:bodyPr wrap="square" lIns="285750" tIns="323850" rIns="285750" bIns="171450" rtlCol="0" anchor="t"/>
          <a:lstStyle/>
          <a:p>
            <a:pPr marL="0" indent="0" algn="r">
              <a:lnSpc>
                <a:spcPts val="3150"/>
              </a:lnSpc>
              <a:buNone/>
            </a:pPr>
            <a:r>
              <a:rPr lang="en-US" sz="3150" b="1" dirty="0">
                <a:solidFill>
                  <a:srgbClr val="0A24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השלכות המחלה</a:t>
            </a:r>
            <a:endParaRPr lang="en-US" sz="3150" dirty="0"/>
          </a:p>
        </p:txBody>
      </p:sp>
      <p:sp>
        <p:nvSpPr>
          <p:cNvPr id="4" name="Text 2"/>
          <p:cNvSpPr/>
          <p:nvPr/>
        </p:nvSpPr>
        <p:spPr>
          <a:xfrm>
            <a:off x="639508" y="1558381"/>
            <a:ext cx="8077200" cy="786705"/>
          </a:xfrm>
          <a:prstGeom prst="rect">
            <a:avLst/>
          </a:prstGeom>
          <a:solidFill>
            <a:srgbClr val="D81E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01624" y="1856482"/>
            <a:ext cx="7694676" cy="253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995"/>
              </a:lnSpc>
              <a:buNone/>
            </a:pPr>
            <a:r>
              <a:rPr lang="he-IL" sz="14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אחד מהגורמים העיקריים </a:t>
            </a:r>
            <a:r>
              <a:rPr lang="en-US" sz="1425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לאובדן</a:t>
            </a:r>
            <a:r>
              <a:rPr lang="en-US" sz="14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שיניים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685800" y="2566988"/>
            <a:ext cx="8077200" cy="109909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714375" y="2566988"/>
            <a:ext cx="0" cy="1099096"/>
          </a:xfrm>
          <a:prstGeom prst="line">
            <a:avLst/>
          </a:prstGeom>
          <a:noFill/>
          <a:ln w="57150">
            <a:solidFill>
              <a:srgbClr val="0A24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59917" y="2833688"/>
            <a:ext cx="7636383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785"/>
              </a:lnSpc>
              <a:spcAft>
                <a:spcPts val="750"/>
              </a:spcAft>
              <a:buNone/>
            </a:pPr>
            <a:r>
              <a:rPr lang="en-US" sz="1275" b="1" dirty="0">
                <a:solidFill>
                  <a:srgbClr val="0A24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קשר למחלות סיסטמיות</a:t>
            </a:r>
            <a:endParaRPr lang="en-US" sz="1275" dirty="0"/>
          </a:p>
        </p:txBody>
      </p:sp>
      <p:sp>
        <p:nvSpPr>
          <p:cNvPr id="9" name="Text 7"/>
          <p:cNvSpPr/>
          <p:nvPr/>
        </p:nvSpPr>
        <p:spPr>
          <a:xfrm>
            <a:off x="859917" y="3155603"/>
            <a:ext cx="7636383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9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מחלות כלל גופניות כגון סוכרת ומחלות לב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" y="3856583"/>
            <a:ext cx="8077200" cy="773311"/>
          </a:xfrm>
          <a:prstGeom prst="rect">
            <a:avLst/>
          </a:prstGeom>
          <a:solidFill>
            <a:srgbClr val="0A246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01624" y="4123283"/>
            <a:ext cx="769467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חשיבות האבחון המוקדם למניעת נזקים בלתי הפיכים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4155" y="65315"/>
            <a:ext cx="4478845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האבחון המסורתי כיום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96140" y="1828599"/>
            <a:ext cx="8077527" cy="557213"/>
          </a:xfrm>
          <a:prstGeom prst="roundRect">
            <a:avLst>
              <a:gd name="adj" fmla="val 13675"/>
            </a:avLst>
          </a:prstGeom>
          <a:solidFill>
            <a:srgbClr val="D81E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70332" y="2000048"/>
            <a:ext cx="8199882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8"/>
              </a:lnSpc>
              <a:buNone/>
            </a:pPr>
            <a:r>
              <a:rPr lang="en-US" sz="1125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מסתמך בעיקר על בדיקה ויזואלית ידנית של רופא השיניים</a:t>
            </a:r>
            <a:endParaRPr lang="en-US" sz="1125" b="1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391668" y="2495550"/>
            <a:ext cx="8382000" cy="557213"/>
          </a:xfrm>
          <a:prstGeom prst="roundRect">
            <a:avLst>
              <a:gd name="adj" fmla="val 13675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91668" y="2667000"/>
            <a:ext cx="8199882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כולל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מדידת עומק כיסים (Probing Depth)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783770" y="3209517"/>
            <a:ext cx="7968561" cy="800100"/>
          </a:xfrm>
          <a:prstGeom prst="roundRect">
            <a:avLst>
              <a:gd name="adj" fmla="val 9524"/>
            </a:avLst>
          </a:prstGeom>
          <a:solidFill>
            <a:srgbClr val="0A246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91668" y="3357563"/>
            <a:ext cx="819988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575"/>
              </a:lnSpc>
              <a:spcAft>
                <a:spcPts val="450"/>
              </a:spcAft>
              <a:buNone/>
            </a:pPr>
            <a:r>
              <a:rPr lang="en-US" sz="1400" b="1" dirty="0">
                <a:solidFill>
                  <a:srgbClr val="D81E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בחינת סימנים קליניים</a:t>
            </a:r>
            <a:endParaRPr lang="en-US" sz="1400" b="1" dirty="0">
              <a:solidFill>
                <a:srgbClr val="D81E5B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391668" y="3614738"/>
            <a:ext cx="819988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575"/>
              </a:lnSpc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דימום, אדמומיות ונפיחות</a:t>
            </a:r>
            <a:endParaRPr lang="en-US" sz="1050" dirty="0">
              <a:solidFill>
                <a:schemeClr val="bg1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48381E8-1A05-6C19-93A5-0AD7879DB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6506" y="208864"/>
            <a:ext cx="2737649" cy="149447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99560" y="0"/>
            <a:ext cx="4663440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חסרונות השיטה הקיימת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42356" y="1520130"/>
            <a:ext cx="8382000" cy="542925"/>
          </a:xfrm>
          <a:prstGeom prst="roundRect">
            <a:avLst>
              <a:gd name="adj" fmla="val 14035"/>
            </a:avLst>
          </a:prstGeom>
          <a:solidFill>
            <a:srgbClr val="D81E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400050" y="1539180"/>
            <a:ext cx="0" cy="542925"/>
          </a:xfrm>
          <a:prstGeom prst="line">
            <a:avLst/>
          </a:prstGeom>
          <a:noFill/>
          <a:ln w="381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19644" y="1691579"/>
            <a:ext cx="81610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575"/>
              </a:lnSpc>
              <a:buNone/>
            </a:pPr>
            <a:r>
              <a:rPr lang="en-US" sz="1125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תהליך סובייקטיבי התלוי בבודק</a:t>
            </a:r>
            <a:endParaRPr lang="en-US" sz="1125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381000" y="2215455"/>
            <a:ext cx="8382000" cy="542925"/>
          </a:xfrm>
          <a:prstGeom prst="roundRect">
            <a:avLst>
              <a:gd name="adj" fmla="val 14035"/>
            </a:avLst>
          </a:prstGeom>
          <a:solidFill>
            <a:srgbClr val="FFF3E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00050" y="2215455"/>
            <a:ext cx="0" cy="542925"/>
          </a:xfrm>
          <a:prstGeom prst="line">
            <a:avLst/>
          </a:prstGeom>
          <a:noFill/>
          <a:ln w="381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30530" y="2386905"/>
            <a:ext cx="81610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575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גוזל זמן רב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381000" y="2891730"/>
            <a:ext cx="8382000" cy="542925"/>
          </a:xfrm>
          <a:prstGeom prst="roundRect">
            <a:avLst>
              <a:gd name="adj" fmla="val 14035"/>
            </a:avLst>
          </a:prstGeom>
          <a:solidFill>
            <a:srgbClr val="FFF3E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00050" y="2891730"/>
            <a:ext cx="0" cy="542925"/>
          </a:xfrm>
          <a:prstGeom prst="line">
            <a:avLst/>
          </a:prstGeom>
          <a:noFill/>
          <a:ln w="381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0530" y="3063180"/>
            <a:ext cx="81610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575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רגיש לטעויות אנוש הנובעות מעייפות או חוסר ניסיון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400050" y="3644205"/>
            <a:ext cx="8382000" cy="607665"/>
          </a:xfrm>
          <a:prstGeom prst="roundRect">
            <a:avLst>
              <a:gd name="adj" fmla="val 12540"/>
            </a:avLst>
          </a:prstGeom>
          <a:solidFill>
            <a:srgbClr val="0077B6"/>
          </a:solidFill>
          <a:ln/>
        </p:spPr>
        <p:txBody>
          <a:bodyPr wrap="square" rtlCol="0" anchor="ctr"/>
          <a:lstStyle/>
          <a:p>
            <a:pPr marL="0" indent="0" algn="r" rtl="1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11480" y="3834705"/>
            <a:ext cx="8161020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785"/>
              </a:lnSpc>
              <a:buNone/>
            </a:pPr>
            <a:r>
              <a:rPr lang="en-US" sz="1275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המסקנה</a:t>
            </a:r>
            <a:r>
              <a:rPr lang="he-IL" sz="12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r>
              <a:rPr lang="en-US" sz="12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קיים צורך בכלי אבחון אובייקטיבי ומדויק</a:t>
            </a:r>
            <a:endParaRPr lang="en-US" sz="127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4155" y="0"/>
            <a:ext cx="4478845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הפתרון הטכנולוגי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" y="1705421"/>
            <a:ext cx="8382000" cy="884783"/>
          </a:xfrm>
          <a:prstGeom prst="roundRect">
            <a:avLst>
              <a:gd name="adj" fmla="val 8612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404813" y="1705421"/>
            <a:ext cx="0" cy="884783"/>
          </a:xfrm>
          <a:prstGeom prst="line">
            <a:avLst/>
          </a:prstGeom>
          <a:noFill/>
          <a:ln w="47625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60058" y="1895921"/>
            <a:ext cx="8112442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ראייה ממוחשבת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60058" y="2185392"/>
            <a:ext cx="8112442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ביצוע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סגמנטציה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חלוקה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למחלקות ברמת הפיקסל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381000" y="2742605"/>
            <a:ext cx="8382000" cy="595313"/>
          </a:xfrm>
          <a:prstGeom prst="roundRect">
            <a:avLst>
              <a:gd name="adj" fmla="val 12800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11480" y="2933105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זיהוי ותיחום גבולות המחלה בצורה חדה וברורה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381000" y="3490317"/>
            <a:ext cx="8382000" cy="595313"/>
          </a:xfrm>
          <a:prstGeom prst="roundRect">
            <a:avLst>
              <a:gd name="adj" fmla="val 12800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11480" y="3680817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הפרדה בין אזורים פתולוגיים לרקמות בריאות</a:t>
            </a:r>
            <a:endParaRPr lang="en-US" sz="1125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DE46F44-D432-5ED4-052E-37BC4ACB2E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155" y="1705421"/>
            <a:ext cx="4189228" cy="228689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93655" y="0"/>
            <a:ext cx="4478845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היתרון הקליני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" y="1850231"/>
            <a:ext cx="8382000" cy="595313"/>
          </a:xfrm>
          <a:prstGeom prst="roundRect">
            <a:avLst>
              <a:gd name="adj" fmla="val 12800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11480" y="2040731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אינדיקציה חזותית ומיקום מדויק של הדלקת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381000" y="2597944"/>
            <a:ext cx="8382000" cy="595313"/>
          </a:xfrm>
          <a:prstGeom prst="roundRect">
            <a:avLst>
              <a:gd name="adj" fmla="val 12800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11480" y="2788444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איתור תבניות מורכבות שאינן נראות לעין האנושית בקלות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381000" y="3345656"/>
            <a:ext cx="8382000" cy="595313"/>
          </a:xfrm>
          <a:prstGeom prst="roundRect">
            <a:avLst>
              <a:gd name="adj" fmla="val 12800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04813" y="3345656"/>
            <a:ext cx="0" cy="595312"/>
          </a:xfrm>
          <a:prstGeom prst="line">
            <a:avLst/>
          </a:prstGeom>
          <a:noFill/>
          <a:ln w="47625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0058" y="3536156"/>
            <a:ext cx="8112442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ניצול כוח החישוב של רשתות נוירונים לשיפור הדיוק</a:t>
            </a:r>
            <a:endParaRPr lang="en-US" sz="11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41267" y="-9253"/>
            <a:ext cx="4721733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מטרות העל והסגמנטציה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" y="1533971"/>
            <a:ext cx="8382000" cy="884783"/>
          </a:xfrm>
          <a:prstGeom prst="roundRect">
            <a:avLst>
              <a:gd name="adj" fmla="val 8612"/>
            </a:avLst>
          </a:prstGeom>
          <a:solidFill>
            <a:srgbClr val="0077B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11480" y="1724471"/>
            <a:ext cx="81610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מטרת העל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11480" y="2013942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8"/>
              </a:lnSpc>
              <a:spcBef>
                <a:spcPts val="600"/>
              </a:spcBef>
              <a:buNone/>
            </a:pPr>
            <a:r>
              <a:rPr lang="en-US" sz="11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פיתוח מודל למידת מכונה לזיהוי וסימון אוטומטי של אזורים פתולוגיים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381000" y="2552105"/>
            <a:ext cx="8382000" cy="1704975"/>
          </a:xfrm>
          <a:prstGeom prst="roundRect">
            <a:avLst>
              <a:gd name="adj" fmla="val 4469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91668" y="2723555"/>
            <a:ext cx="819988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575"/>
              </a:lnSpc>
              <a:spcAft>
                <a:spcPts val="450"/>
              </a:spcAft>
              <a:buNone/>
            </a:pPr>
            <a:r>
              <a:rPr lang="en-US" sz="1125" b="1" dirty="0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פיתוח אלגוריתם סגמנטציה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552450" y="2980730"/>
            <a:ext cx="8039100" cy="1104900"/>
          </a:xfrm>
          <a:prstGeom prst="rect">
            <a:avLst/>
          </a:prstGeom>
          <a:noFill/>
          <a:ln/>
        </p:spPr>
        <p:txBody>
          <a:bodyPr wrap="square" lIns="95250" tIns="0" rIns="0" bIns="0" rtlCol="0" anchor="t"/>
          <a:lstStyle/>
          <a:p>
            <a:pPr marL="95250" indent="-95250" algn="r" rtl="1">
              <a:lnSpc>
                <a:spcPts val="21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סיווג כל פיקסל בתמונה</a:t>
            </a:r>
            <a:endParaRPr lang="en-US" sz="1350" dirty="0"/>
          </a:p>
          <a:p>
            <a:pPr marL="95250" indent="-95250" algn="r" rtl="1">
              <a:lnSpc>
                <a:spcPts val="21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זיהוי מדויק של קו החניכיים (Gingival Margin)</a:t>
            </a:r>
            <a:endParaRPr lang="en-US" sz="1350" dirty="0"/>
          </a:p>
          <a:p>
            <a:pPr marL="95250" indent="-95250" algn="r" rtl="1">
              <a:lnSpc>
                <a:spcPts val="21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בידוד אזורים המראים סימני דלקת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4155" y="91440"/>
            <a:ext cx="4478845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מטרות הערכה וממשק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" y="1886992"/>
            <a:ext cx="8382000" cy="922883"/>
          </a:xfrm>
          <a:prstGeom prst="roundRect">
            <a:avLst>
              <a:gd name="adj" fmla="val 8257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404813" y="1886992"/>
            <a:ext cx="0" cy="922883"/>
          </a:xfrm>
          <a:prstGeom prst="line">
            <a:avLst/>
          </a:prstGeom>
          <a:noFill/>
          <a:ln w="47625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79870" y="2096542"/>
            <a:ext cx="8073581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הערכת ביצועים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79870" y="2386013"/>
            <a:ext cx="8073581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השוואת מדדי דיוק (Dice,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מול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קביעות מומחים (Ground Truth)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381000" y="2981325"/>
            <a:ext cx="8382000" cy="922883"/>
          </a:xfrm>
          <a:prstGeom prst="roundRect">
            <a:avLst>
              <a:gd name="adj" fmla="val 8257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04813" y="2981325"/>
            <a:ext cx="0" cy="922883"/>
          </a:xfrm>
          <a:prstGeom prst="line">
            <a:avLst/>
          </a:prstGeom>
          <a:noFill/>
          <a:ln w="47625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79870" y="3190875"/>
            <a:ext cx="8073581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ממשק בסיסי (POC)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79870" y="3480346"/>
            <a:ext cx="8073581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פיתוח אפשרות להעלאת תמונה וקבלת משוב חזותי מיידי</a:t>
            </a:r>
            <a:endParaRPr lang="en-US" sz="11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65155" y="0"/>
            <a:ext cx="4478845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l" rtl="1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ארכיטקטורת U-Net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" y="1652588"/>
            <a:ext cx="8382000" cy="876151"/>
          </a:xfrm>
          <a:prstGeom prst="roundRect">
            <a:avLst>
              <a:gd name="adj" fmla="val 8697"/>
            </a:avLst>
          </a:prstGeom>
          <a:solidFill>
            <a:srgbClr val="0077B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292" y="1862138"/>
            <a:ext cx="8122158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הרשת הקלאסית לסגמנטציה ביו-רפואית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1292" y="2132558"/>
            <a:ext cx="812215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470"/>
              </a:lnSpc>
              <a:spcBef>
                <a:spcPts val="450"/>
              </a:spcBef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(Ronneberger et al., 2015)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81000" y="2700189"/>
            <a:ext cx="8382000" cy="633413"/>
          </a:xfrm>
          <a:prstGeom prst="roundRect">
            <a:avLst>
              <a:gd name="adj" fmla="val 12030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1292" y="2909739"/>
            <a:ext cx="812215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בנויה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-"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מצמצם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"(Encoder) 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וחלק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מרחיב (Decoder)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381000" y="3505051"/>
            <a:ext cx="8382000" cy="633413"/>
          </a:xfrm>
          <a:prstGeom prst="roundRect">
            <a:avLst>
              <a:gd name="adj" fmla="val 12030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04813" y="3505051"/>
            <a:ext cx="0" cy="633413"/>
          </a:xfrm>
          <a:prstGeom prst="line">
            <a:avLst/>
          </a:prstGeom>
          <a:noFill/>
          <a:ln w="47625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79870" y="3714601"/>
            <a:ext cx="8073581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יעילה מאוד בזיהוי גבולות בתמונות רפואיות</a:t>
            </a:r>
            <a:endParaRPr lang="en-US" sz="112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92776" y="-5443"/>
            <a:ext cx="6635687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l" rtl="1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הארכיטקטורה </a:t>
            </a:r>
            <a:r>
              <a:rPr lang="en-US" sz="3600" b="1" dirty="0" err="1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הנבחרת</a:t>
            </a: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he-IL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 </a:t>
            </a: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U-Net++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" y="1600200"/>
            <a:ext cx="8382000" cy="838051"/>
          </a:xfrm>
          <a:prstGeom prst="roundRect">
            <a:avLst>
              <a:gd name="adj" fmla="val 9093"/>
            </a:avLst>
          </a:prstGeom>
          <a:solidFill>
            <a:srgbClr val="0077B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11480" y="1790700"/>
            <a:ext cx="81610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גרסה משודרגת של U-Net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11480" y="2061121"/>
            <a:ext cx="816102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470"/>
              </a:lnSpc>
              <a:spcBef>
                <a:spcPts val="450"/>
              </a:spcBef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(Zhou et al., 2018)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81000" y="2590651"/>
            <a:ext cx="8382000" cy="852488"/>
          </a:xfrm>
          <a:prstGeom prst="roundRect">
            <a:avLst>
              <a:gd name="adj" fmla="val 8939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04813" y="2590651"/>
            <a:ext cx="0" cy="852487"/>
          </a:xfrm>
          <a:prstGeom prst="line">
            <a:avLst/>
          </a:prstGeom>
          <a:noFill/>
          <a:ln w="47625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0058" y="2781151"/>
            <a:ext cx="81124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575"/>
              </a:lnSpc>
              <a:spcAft>
                <a:spcPts val="450"/>
              </a:spcAft>
              <a:buNone/>
            </a:pPr>
            <a:r>
              <a:rPr lang="en-US" sz="1125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החידוש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460058" y="3038326"/>
            <a:ext cx="8112442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הוספת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שלבים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(Nested Layers) 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בין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ה-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לשלב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381000" y="3595539"/>
            <a:ext cx="8382000" cy="595313"/>
          </a:xfrm>
          <a:prstGeom prst="roundRect">
            <a:avLst>
              <a:gd name="adj" fmla="val 12800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11480" y="3786039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שלב כולל קונבולוציה, נורמליזציה ואקטיבציה</a:t>
            </a:r>
            <a:endParaRPr lang="en-US" sz="11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67686" y="0"/>
            <a:ext cx="5613028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r" rtl="1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מדוע </a:t>
            </a:r>
            <a:r>
              <a:rPr lang="en-US" sz="3600" b="1" dirty="0" err="1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בחרנו</a:t>
            </a: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ב</a:t>
            </a:r>
            <a:r>
              <a:rPr lang="he-IL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</a:t>
            </a: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U-Net++</a:t>
            </a:r>
            <a:r>
              <a:rPr lang="he-IL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" y="1850231"/>
            <a:ext cx="8382000" cy="595313"/>
          </a:xfrm>
          <a:prstGeom prst="roundRect">
            <a:avLst>
              <a:gd name="adj" fmla="val 12800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404813" y="1850231"/>
            <a:ext cx="0" cy="595312"/>
          </a:xfrm>
          <a:prstGeom prst="line">
            <a:avLst/>
          </a:prstGeom>
          <a:noFill/>
          <a:ln w="47625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60058" y="2040731"/>
            <a:ext cx="8112442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מספקת תוצאה מדויקת יותר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לעומת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U-Net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ה"רגיל"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381000" y="2597944"/>
            <a:ext cx="8382000" cy="595313"/>
          </a:xfrm>
          <a:prstGeom prst="roundRect">
            <a:avLst>
              <a:gd name="adj" fmla="val 12800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04813" y="2597944"/>
            <a:ext cx="0" cy="595312"/>
          </a:xfrm>
          <a:prstGeom prst="line">
            <a:avLst/>
          </a:prstGeom>
          <a:noFill/>
          <a:ln w="47625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0058" y="2788444"/>
            <a:ext cx="8112442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מצליחה לתת ביצועים עדיפים בתמונות רועשות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381000" y="3345656"/>
            <a:ext cx="8382000" cy="595313"/>
          </a:xfrm>
          <a:prstGeom prst="roundRect">
            <a:avLst>
              <a:gd name="adj" fmla="val 12800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04813" y="3345656"/>
            <a:ext cx="0" cy="595312"/>
          </a:xfrm>
          <a:prstGeom prst="line">
            <a:avLst/>
          </a:prstGeom>
          <a:noFill/>
          <a:ln w="47625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60058" y="3536156"/>
            <a:ext cx="8112442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מתמודדת טוב יותר עם הבדלים קטנים בין פיקסלים חיוביים לשליליים</a:t>
            </a:r>
            <a:endParaRPr lang="en-US" sz="11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8483" y="0"/>
            <a:ext cx="5796180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r" rtl="1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סקירה כללית </a:t>
            </a:r>
            <a:r>
              <a:rPr lang="en-US" sz="3600" b="1" dirty="0" err="1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של</a:t>
            </a: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ה</a:t>
            </a:r>
            <a:r>
              <a:rPr lang="he-IL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</a:t>
            </a: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" y="1689795"/>
            <a:ext cx="8382000" cy="645765"/>
          </a:xfrm>
          <a:prstGeom prst="roundRect">
            <a:avLst>
              <a:gd name="adj" fmla="val 11800"/>
            </a:avLst>
          </a:prstGeom>
          <a:solidFill>
            <a:srgbClr val="0077B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292" y="1899345"/>
            <a:ext cx="8122158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785"/>
              </a:lnSpc>
              <a:buNone/>
            </a:pPr>
            <a:r>
              <a:rPr lang="en-US" sz="12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 פועל בארבעה שלבים עוקבים</a:t>
            </a:r>
            <a:endParaRPr lang="en-US" sz="1275" dirty="0"/>
          </a:p>
        </p:txBody>
      </p:sp>
      <p:sp>
        <p:nvSpPr>
          <p:cNvPr id="5" name="Text 3"/>
          <p:cNvSpPr/>
          <p:nvPr/>
        </p:nvSpPr>
        <p:spPr>
          <a:xfrm>
            <a:off x="381000" y="2487960"/>
            <a:ext cx="8382000" cy="595313"/>
          </a:xfrm>
          <a:prstGeom prst="roundRect">
            <a:avLst>
              <a:gd name="adj" fmla="val 12800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11480" y="2678460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שלב משמש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כעיבוד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מקדים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(Pre-processing)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לשלב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הבא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381000" y="3235672"/>
            <a:ext cx="8382000" cy="865733"/>
          </a:xfrm>
          <a:prstGeom prst="roundRect">
            <a:avLst>
              <a:gd name="adj" fmla="val 8802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04813" y="3235672"/>
            <a:ext cx="0" cy="865733"/>
          </a:xfrm>
          <a:prstGeom prst="line">
            <a:avLst/>
          </a:prstGeom>
          <a:noFill/>
          <a:ln w="47625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0058" y="3426172"/>
            <a:ext cx="8112442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0058" y="3696593"/>
            <a:ext cx="8112442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8"/>
              </a:lnSpc>
              <a:spcBef>
                <a:spcPts val="450"/>
              </a:spcBef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לבודד ולהתמקד ברקמת החניכיים בלבד לפני אבחון המחלה</a:t>
            </a:r>
            <a:endParaRPr lang="en-US" sz="11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33190" y="-21606"/>
            <a:ext cx="5645495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r" rtl="1">
              <a:lnSpc>
                <a:spcPts val="3600"/>
              </a:lnSpc>
              <a:buNone/>
            </a:pPr>
            <a:r>
              <a:rPr lang="en-US" sz="3600" b="1" dirty="0" err="1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של</a:t>
            </a:r>
            <a:r>
              <a:rPr lang="he-IL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ב 1: </a:t>
            </a: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Pre-Processing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" y="1549747"/>
            <a:ext cx="8382000" cy="557213"/>
          </a:xfrm>
          <a:prstGeom prst="roundRect">
            <a:avLst>
              <a:gd name="adj" fmla="val 13675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91668" y="1721197"/>
            <a:ext cx="8199882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הנתונים סומנו במקור בפורמט YOLO/Roboflow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381000" y="2240310"/>
            <a:ext cx="8382000" cy="1310580"/>
          </a:xfrm>
          <a:prstGeom prst="roundRect">
            <a:avLst>
              <a:gd name="adj" fmla="val 5814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91668" y="2411760"/>
            <a:ext cx="819988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470"/>
              </a:lnSpc>
              <a:spcAft>
                <a:spcPts val="450"/>
              </a:spcAft>
              <a:buNone/>
            </a:pPr>
            <a:r>
              <a:rPr lang="en-US" sz="1050" b="1" dirty="0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המרה </a:t>
            </a:r>
            <a:r>
              <a:rPr lang="en-US" sz="1050" b="1" dirty="0" err="1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לפורמט</a:t>
            </a:r>
            <a:r>
              <a:rPr lang="en-US" sz="1050" b="1" dirty="0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e-IL" sz="1050" b="1" dirty="0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מפה בינארית (</a:t>
            </a:r>
            <a:r>
              <a:rPr lang="en-US" sz="1050" b="1" dirty="0" err="1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BitMap</a:t>
            </a:r>
            <a:r>
              <a:rPr lang="he-IL" sz="1050" b="1" dirty="0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52450" y="2655540"/>
            <a:ext cx="8039100" cy="723900"/>
          </a:xfrm>
          <a:prstGeom prst="rect">
            <a:avLst/>
          </a:prstGeom>
          <a:noFill/>
          <a:ln/>
        </p:spPr>
        <p:txBody>
          <a:bodyPr wrap="square" lIns="95250" tIns="0" rIns="0" bIns="0" rtlCol="0" anchor="t"/>
          <a:lstStyle/>
          <a:p>
            <a:pPr marL="95250" indent="-95250" algn="r" rtl="1">
              <a:lnSpc>
                <a:spcPts val="21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פיקסלים רלוונטיים </a:t>
            </a:r>
            <a:r>
              <a:rPr lang="he-IL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(לבן=רלוונטי)</a:t>
            </a:r>
            <a:endParaRPr lang="en-US" sz="1350" dirty="0"/>
          </a:p>
          <a:p>
            <a:pPr marL="95250" indent="-95250" algn="r" rtl="1">
              <a:lnSpc>
                <a:spcPts val="21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רקע</a:t>
            </a: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e-IL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שחור (לא רלוונטי)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81000" y="3684240"/>
            <a:ext cx="8382000" cy="557213"/>
          </a:xfrm>
          <a:prstGeom prst="roundRect">
            <a:avLst>
              <a:gd name="adj" fmla="val 13675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00050" y="3684240"/>
            <a:ext cx="0" cy="557213"/>
          </a:xfrm>
          <a:prstGeom prst="line">
            <a:avLst/>
          </a:prstGeom>
          <a:noFill/>
          <a:ln w="381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30530" y="3855690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המסכה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משמשת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כ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"אמת מוחלטת" לתהליך האימון.</a:t>
            </a:r>
            <a:endParaRPr lang="en-US" sz="1125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59384" y="0"/>
            <a:ext cx="4127862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Augmentations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" y="1641128"/>
            <a:ext cx="8382000" cy="594271"/>
          </a:xfrm>
          <a:prstGeom prst="roundRect">
            <a:avLst>
              <a:gd name="adj" fmla="val 12822"/>
            </a:avLst>
          </a:prstGeom>
          <a:solidFill>
            <a:srgbClr val="0077B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11480" y="1831628"/>
            <a:ext cx="81610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הגדלת גודל מערך האימון ושיפור הכללה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81000" y="2387798"/>
            <a:ext cx="8382000" cy="1762125"/>
          </a:xfrm>
          <a:prstGeom prst="roundRect">
            <a:avLst>
              <a:gd name="adj" fmla="val 4324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11480" y="2578298"/>
            <a:ext cx="81610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575"/>
              </a:lnSpc>
              <a:spcAft>
                <a:spcPts val="600"/>
              </a:spcAft>
              <a:buNone/>
            </a:pPr>
            <a:r>
              <a:rPr lang="en-US" sz="1125" b="1" dirty="0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טכניקות שהופעלו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571500" y="2854523"/>
            <a:ext cx="8001000" cy="1104900"/>
          </a:xfrm>
          <a:prstGeom prst="rect">
            <a:avLst/>
          </a:prstGeom>
          <a:noFill/>
          <a:ln/>
        </p:spPr>
        <p:txBody>
          <a:bodyPr wrap="square" lIns="95250" tIns="0" rIns="0" bIns="0" rtlCol="0" anchor="t"/>
          <a:lstStyle/>
          <a:p>
            <a:pPr marL="95250" indent="-95250" algn="r" rtl="1">
              <a:lnSpc>
                <a:spcPts val="21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היפוך</a:t>
            </a: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e-IL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צידי (</a:t>
            </a: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</a:t>
            </a:r>
            <a:r>
              <a:rPr lang="he-IL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350" dirty="0"/>
          </a:p>
          <a:p>
            <a:pPr marL="95250" indent="-95250" algn="r" rtl="1">
              <a:lnSpc>
                <a:spcPts val="21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שינוי רוויה (Saturation)</a:t>
            </a:r>
            <a:endParaRPr lang="en-US" sz="1350" dirty="0"/>
          </a:p>
          <a:p>
            <a:pPr marL="95250" indent="-95250" algn="r" rtl="1">
              <a:lnSpc>
                <a:spcPts val="21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התאמת גאמה ובהירות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59137" y="0"/>
            <a:ext cx="2886891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l" rtl="1">
              <a:lnSpc>
                <a:spcPts val="3600"/>
              </a:lnSpc>
              <a:buNone/>
            </a:pPr>
            <a:r>
              <a:rPr lang="en-US" sz="3600" b="1" dirty="0" err="1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חיתוך</a:t>
            </a: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לקרופים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" y="1831181"/>
            <a:ext cx="8382000" cy="595313"/>
          </a:xfrm>
          <a:prstGeom prst="roundRect">
            <a:avLst>
              <a:gd name="adj" fmla="val 12800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11480" y="2021681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תמונות המקור גדולות מאוד, אך הרשת דורשת קלט בגודל קבוע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381000" y="2578894"/>
            <a:ext cx="8382000" cy="1381125"/>
          </a:xfrm>
          <a:prstGeom prst="roundRect">
            <a:avLst>
              <a:gd name="adj" fmla="val 5517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04813" y="2578894"/>
            <a:ext cx="0" cy="1381125"/>
          </a:xfrm>
          <a:prstGeom prst="line">
            <a:avLst/>
          </a:prstGeom>
          <a:noFill/>
          <a:ln w="47625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60058" y="2769394"/>
            <a:ext cx="81124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575"/>
              </a:lnSpc>
              <a:spcAft>
                <a:spcPts val="600"/>
              </a:spcAft>
              <a:buNone/>
            </a:pPr>
            <a:r>
              <a:rPr lang="en-US" sz="1125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בוצע חיתוך לקרופים בגדלים ספציפיים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619125" y="3045619"/>
            <a:ext cx="7953375" cy="723900"/>
          </a:xfrm>
          <a:prstGeom prst="rect">
            <a:avLst/>
          </a:prstGeom>
          <a:noFill/>
          <a:ln/>
        </p:spPr>
        <p:txBody>
          <a:bodyPr wrap="square" lIns="95250" tIns="0" rIns="0" bIns="0" rtlCol="0" anchor="t"/>
          <a:lstStyle/>
          <a:p>
            <a:pPr marL="95250" indent="-95250" algn="r" rtl="1">
              <a:lnSpc>
                <a:spcPts val="21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</a:t>
            </a: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שיני</a:t>
            </a:r>
            <a:r>
              <a:rPr lang="he-IL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</a:t>
            </a: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ם</a:t>
            </a:r>
            <a:r>
              <a:rPr lang="he-IL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512×512</a:t>
            </a:r>
            <a:endParaRPr lang="en-US" sz="1350" dirty="0"/>
          </a:p>
          <a:p>
            <a:pPr marL="95250" indent="-95250" algn="r" rtl="1">
              <a:lnSpc>
                <a:spcPts val="21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</a:t>
            </a: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דלקת</a:t>
            </a:r>
            <a:r>
              <a:rPr lang="he-IL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256×256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27663" y="0"/>
            <a:ext cx="6524896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r" rtl="1">
              <a:lnSpc>
                <a:spcPts val="3600"/>
              </a:lnSpc>
              <a:buNone/>
            </a:pPr>
            <a:r>
              <a:rPr lang="he-IL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שלב 2: </a:t>
            </a: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Teeth Segmentation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" y="1682651"/>
            <a:ext cx="8382000" cy="800993"/>
          </a:xfrm>
          <a:prstGeom prst="roundRect">
            <a:avLst>
              <a:gd name="adj" fmla="val 9513"/>
            </a:avLst>
          </a:prstGeom>
          <a:solidFill>
            <a:srgbClr val="FFF3E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400050" y="1682651"/>
            <a:ext cx="0" cy="800993"/>
          </a:xfrm>
          <a:prstGeom prst="line">
            <a:avLst/>
          </a:prstGeom>
          <a:noFill/>
          <a:ln w="381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30530" y="1854101"/>
            <a:ext cx="816102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אתגר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30530" y="2097881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8"/>
              </a:lnSpc>
              <a:spcBef>
                <a:spcPts val="450"/>
              </a:spcBef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החניכיים ושאר חלקי הפה בעלי גוון אדום דומה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381000" y="2616994"/>
            <a:ext cx="8382000" cy="800993"/>
          </a:xfrm>
          <a:prstGeom prst="roundRect">
            <a:avLst>
              <a:gd name="adj" fmla="val 9513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00050" y="2616994"/>
            <a:ext cx="0" cy="800993"/>
          </a:xfrm>
          <a:prstGeom prst="line">
            <a:avLst/>
          </a:prstGeom>
          <a:noFill/>
          <a:ln w="381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30530" y="2788444"/>
            <a:ext cx="816102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הפתרון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30530" y="3032224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spcBef>
                <a:spcPts val="450"/>
              </a:spcBef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שימוש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בשיניים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כ"עוגן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"(Anchor) 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לזיהוי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מיקום החניכיים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381000" y="3551337"/>
            <a:ext cx="8382000" cy="557213"/>
          </a:xfrm>
          <a:prstGeom prst="roundRect">
            <a:avLst>
              <a:gd name="adj" fmla="val 13675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91668" y="3722787"/>
            <a:ext cx="8199882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רקמת החניכיים המודלקת לרוב מתקבצת סביב השיניים</a:t>
            </a:r>
            <a:endParaRPr lang="en-US" sz="112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19502" y="0"/>
            <a:ext cx="6808960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r" rtl="1">
              <a:lnSpc>
                <a:spcPts val="3600"/>
              </a:lnSpc>
              <a:buNone/>
            </a:pPr>
            <a:r>
              <a:rPr lang="he-IL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אימון בשיטת ה- </a:t>
            </a: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Cropping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" y="1831181"/>
            <a:ext cx="8382000" cy="595313"/>
          </a:xfrm>
          <a:prstGeom prst="roundRect">
            <a:avLst>
              <a:gd name="adj" fmla="val 12800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11480" y="2021681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שימוש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ב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U-Net++ 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להפרדה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ברמת הפיקסל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381000" y="2578894"/>
            <a:ext cx="8382000" cy="1381125"/>
          </a:xfrm>
          <a:prstGeom prst="roundRect">
            <a:avLst>
              <a:gd name="adj" fmla="val 5517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04813" y="2578894"/>
            <a:ext cx="0" cy="1381125"/>
          </a:xfrm>
          <a:prstGeom prst="line">
            <a:avLst/>
          </a:prstGeom>
          <a:noFill/>
          <a:ln w="47625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60058" y="2769394"/>
            <a:ext cx="81124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575"/>
              </a:lnSpc>
              <a:spcAft>
                <a:spcPts val="600"/>
              </a:spcAft>
              <a:buNone/>
            </a:pPr>
            <a:r>
              <a:rPr lang="en-US" sz="1125" b="1" dirty="0" err="1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מדוע</a:t>
            </a:r>
            <a:r>
              <a:rPr lang="en-US" sz="1125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b="1" dirty="0" err="1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חיתוך</a:t>
            </a:r>
            <a:r>
              <a:rPr lang="en-US" sz="1125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(Crop) </a:t>
            </a:r>
            <a:r>
              <a:rPr lang="he-IL" sz="1125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b="1" dirty="0" err="1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ולא</a:t>
            </a:r>
            <a:r>
              <a:rPr lang="en-US" sz="1125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b="1" dirty="0" err="1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הקטנה</a:t>
            </a:r>
            <a:r>
              <a:rPr lang="he-IL" sz="1125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(Resize)</a:t>
            </a:r>
            <a:r>
              <a:rPr lang="he-IL" sz="1125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619125" y="3045619"/>
            <a:ext cx="7953375" cy="723900"/>
          </a:xfrm>
          <a:prstGeom prst="rect">
            <a:avLst/>
          </a:prstGeom>
          <a:noFill/>
          <a:ln/>
        </p:spPr>
        <p:txBody>
          <a:bodyPr wrap="square" lIns="95250" tIns="0" rIns="0" bIns="0" rtlCol="0" anchor="t"/>
          <a:lstStyle/>
          <a:p>
            <a:pPr marL="95250" indent="-95250" algn="r" rtl="1">
              <a:lnSpc>
                <a:spcPts val="21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שמירה על הרזולוציה הגבוהה של הפרטים הקליניים</a:t>
            </a:r>
            <a:endParaRPr lang="en-US" sz="1350" dirty="0"/>
          </a:p>
          <a:p>
            <a:pPr marL="95250" indent="-95250" algn="r" rtl="1">
              <a:lnSpc>
                <a:spcPts val="21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עמידה בדרישת הרשת לקלט שהוא </a:t>
            </a:r>
            <a:r>
              <a:rPr lang="en-US" sz="1350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חזקה</a:t>
            </a: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</a:t>
            </a:r>
            <a:r>
              <a:rPr lang="he-IL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 </a:t>
            </a: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(512×512)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04785" y="0"/>
            <a:ext cx="4896612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r" rtl="1">
              <a:lnSpc>
                <a:spcPts val="3600"/>
              </a:lnSpc>
              <a:buNone/>
            </a:pPr>
            <a:r>
              <a:rPr lang="en-US" sz="3600" b="1" dirty="0" err="1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מגבלות</a:t>
            </a: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חישוביות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" y="1712119"/>
            <a:ext cx="8382000" cy="595313"/>
          </a:xfrm>
          <a:prstGeom prst="roundRect">
            <a:avLst>
              <a:gd name="adj" fmla="val 12800"/>
            </a:avLst>
          </a:prstGeom>
          <a:solidFill>
            <a:srgbClr val="FFF3E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400050" y="1712119"/>
            <a:ext cx="0" cy="595313"/>
          </a:xfrm>
          <a:prstGeom prst="line">
            <a:avLst/>
          </a:prstGeom>
          <a:noFill/>
          <a:ln w="381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0342" y="1902619"/>
            <a:ext cx="812215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תמונות גדולות מדי גורמות לזמן אימון ממושך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381000" y="2459831"/>
            <a:ext cx="8382000" cy="595313"/>
          </a:xfrm>
          <a:prstGeom prst="roundRect">
            <a:avLst>
              <a:gd name="adj" fmla="val 12800"/>
            </a:avLst>
          </a:prstGeom>
          <a:solidFill>
            <a:srgbClr val="FFF3E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00050" y="2459831"/>
            <a:ext cx="0" cy="595312"/>
          </a:xfrm>
          <a:prstGeom prst="line">
            <a:avLst/>
          </a:prstGeom>
          <a:noFill/>
          <a:ln w="381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0342" y="2650331"/>
            <a:ext cx="812215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פגיעה בהכללה: המודל עלול להתמקד בפרטים מקומיים במקום בתכונות רחבות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381000" y="3207544"/>
            <a:ext cx="8382000" cy="871538"/>
          </a:xfrm>
          <a:prstGeom prst="roundRect">
            <a:avLst>
              <a:gd name="adj" fmla="val 8743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04813" y="3207544"/>
            <a:ext cx="0" cy="871538"/>
          </a:xfrm>
          <a:prstGeom prst="line">
            <a:avLst/>
          </a:prstGeom>
          <a:noFill/>
          <a:ln w="47625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60058" y="3398044"/>
            <a:ext cx="8112442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שיטת הקרופים פתרה בעיות אלו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460058" y="3688556"/>
            <a:ext cx="81124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575"/>
              </a:lnSpc>
              <a:spcBef>
                <a:spcPts val="600"/>
              </a:spcBef>
              <a:buNone/>
            </a:pPr>
            <a:r>
              <a:rPr lang="en-US" sz="1125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 אומן </a:t>
            </a:r>
            <a:r>
              <a:rPr lang="en-US" sz="1125" b="1" dirty="0" err="1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לבסוף</a:t>
            </a:r>
            <a:r>
              <a:rPr lang="en-US" sz="1125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b="1" dirty="0" err="1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למשך</a:t>
            </a:r>
            <a:r>
              <a:rPr lang="he-IL" sz="1125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r>
              <a:rPr lang="he-IL" sz="1125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b="1" dirty="0" err="1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אפוקים</a:t>
            </a:r>
            <a:endParaRPr lang="en-US" sz="1125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33103" y="0"/>
            <a:ext cx="6267205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r" rtl="1">
              <a:lnSpc>
                <a:spcPts val="3600"/>
              </a:lnSpc>
              <a:buNone/>
            </a:pPr>
            <a:r>
              <a:rPr lang="en-US" sz="3600" b="1" dirty="0" err="1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שלב</a:t>
            </a: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he-IL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3: </a:t>
            </a: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Gingival Retrieval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" y="1728341"/>
            <a:ext cx="8382000" cy="595313"/>
          </a:xfrm>
          <a:prstGeom prst="roundRect">
            <a:avLst>
              <a:gd name="adj" fmla="val 12800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11480" y="1918841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שיטה היוריסטית המבוססת על תוצאות מודל השיניים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381000" y="2476054"/>
            <a:ext cx="8382000" cy="839093"/>
          </a:xfrm>
          <a:prstGeom prst="roundRect">
            <a:avLst>
              <a:gd name="adj" fmla="val 9081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11480" y="2666554"/>
            <a:ext cx="816102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470"/>
              </a:lnSpc>
              <a:spcAft>
                <a:spcPts val="450"/>
              </a:spcAft>
              <a:buNone/>
            </a:pPr>
            <a:r>
              <a:rPr lang="en-US" sz="1050" b="1" dirty="0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הגדרה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11480" y="2910334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רכיב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שיניים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פיקסלים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לבנים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שכנים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באותו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גובה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381000" y="3467546"/>
            <a:ext cx="8382000" cy="595313"/>
          </a:xfrm>
          <a:prstGeom prst="roundRect">
            <a:avLst>
              <a:gd name="adj" fmla="val 12800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00050" y="3467546"/>
            <a:ext cx="0" cy="595312"/>
          </a:xfrm>
          <a:prstGeom prst="line">
            <a:avLst/>
          </a:prstGeom>
          <a:noFill/>
          <a:ln w="381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0342" y="3658046"/>
            <a:ext cx="812215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סינון רעשים: 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התעלמות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מרכיבים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הקטנים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אחוז אחד מהתמונה.</a:t>
            </a:r>
            <a:endParaRPr lang="en-US" sz="1125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91990" y="0"/>
            <a:ext cx="4478845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r" rtl="1">
              <a:lnSpc>
                <a:spcPts val="3600"/>
              </a:lnSpc>
              <a:buNone/>
            </a:pPr>
            <a:r>
              <a:rPr lang="en-US" sz="3600" b="1" dirty="0" err="1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הפרדת</a:t>
            </a: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לסתות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" y="1850231"/>
            <a:ext cx="8382000" cy="595313"/>
          </a:xfrm>
          <a:prstGeom prst="roundRect">
            <a:avLst>
              <a:gd name="adj" fmla="val 12800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11480" y="2040731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מזהה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"מרווח" (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רצף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ללא שיניים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בגובה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מסוים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כדי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להבדיל בין לסתות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381000" y="2597944"/>
            <a:ext cx="8382000" cy="595313"/>
          </a:xfrm>
          <a:prstGeom prst="roundRect">
            <a:avLst>
              <a:gd name="adj" fmla="val 12800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11480" y="2788444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פיצול התמונה וחיפוש רכיבים בנפרד מעל ומתחת למרווח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381000" y="3345656"/>
            <a:ext cx="8382000" cy="595313"/>
          </a:xfrm>
          <a:prstGeom prst="roundRect">
            <a:avLst>
              <a:gd name="adj" fmla="val 12800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00050" y="3345656"/>
            <a:ext cx="0" cy="595312"/>
          </a:xfrm>
          <a:prstGeom prst="line">
            <a:avLst/>
          </a:prstGeom>
          <a:noFill/>
          <a:ln w="381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0342" y="3536156"/>
            <a:ext cx="812215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גישה זו יעילה ומהירה יותר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מאימון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מודלMulti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-class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נפרד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ללסתות</a:t>
            </a:r>
            <a:endParaRPr lang="en-US" sz="1125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60043" y="0"/>
            <a:ext cx="5984748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r" rtl="1">
              <a:lnSpc>
                <a:spcPts val="3600"/>
              </a:lnSpc>
              <a:buNone/>
            </a:pPr>
            <a:r>
              <a:rPr lang="en-US" sz="3600" b="1" dirty="0" err="1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מציאת</a:t>
            </a: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רקמת החניכיים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" y="1970782"/>
            <a:ext cx="8382000" cy="839093"/>
          </a:xfrm>
          <a:prstGeom prst="roundRect">
            <a:avLst>
              <a:gd name="adj" fmla="val 9081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11480" y="2161282"/>
            <a:ext cx="816102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470"/>
              </a:lnSpc>
              <a:spcAft>
                <a:spcPts val="450"/>
              </a:spcAft>
              <a:buNone/>
            </a:pPr>
            <a:r>
              <a:rPr lang="en-US" sz="1050" b="1" dirty="0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במקרה </a:t>
            </a:r>
            <a:r>
              <a:rPr lang="en-US" sz="1050" b="1" dirty="0" err="1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</a:t>
            </a:r>
            <a:r>
              <a:rPr lang="en-US" sz="1050" b="1" dirty="0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r>
              <a:rPr lang="he-IL" sz="1050" b="1" dirty="0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50" b="1" dirty="0" err="1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רכיבי</a:t>
            </a:r>
            <a:r>
              <a:rPr lang="en-US" sz="1050" b="1" dirty="0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שיניים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11480" y="2405063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משחירים את המרווח ביניהם ושומרים פיקסלים קרובים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381000" y="2981325"/>
            <a:ext cx="8382000" cy="839093"/>
          </a:xfrm>
          <a:prstGeom prst="roundRect">
            <a:avLst>
              <a:gd name="adj" fmla="val 9081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11480" y="3171825"/>
            <a:ext cx="816102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470"/>
              </a:lnSpc>
              <a:spcAft>
                <a:spcPts val="450"/>
              </a:spcAft>
              <a:buNone/>
            </a:pPr>
            <a:r>
              <a:rPr lang="en-US" sz="1050" b="1" dirty="0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במקרה של רכיב יחיד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1480" y="3415605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חישוב "גוף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קמור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מינימלי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(Convex Hull)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</a:t>
            </a:r>
            <a:endParaRPr lang="en-US" sz="1125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72566" y="3810"/>
            <a:ext cx="5081207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r" rtl="1">
              <a:lnSpc>
                <a:spcPts val="3600"/>
              </a:lnSpc>
              <a:buNone/>
            </a:pPr>
            <a:r>
              <a:rPr lang="en-US" sz="3600" b="1" dirty="0" err="1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שיטת</a:t>
            </a: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הגוף הקמור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" y="1728341"/>
            <a:ext cx="8382000" cy="595313"/>
          </a:xfrm>
          <a:prstGeom prst="roundRect">
            <a:avLst>
              <a:gd name="adj" fmla="val 12800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11480" y="1918841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בודקים היכן יש יותר "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שטח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ריק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בתוך הגוף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הקמור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למעלה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למטה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381000" y="2476054"/>
            <a:ext cx="8382000" cy="839093"/>
          </a:xfrm>
          <a:prstGeom prst="roundRect">
            <a:avLst>
              <a:gd name="adj" fmla="val 9081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11480" y="2666554"/>
            <a:ext cx="816102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470"/>
              </a:lnSpc>
              <a:spcAft>
                <a:spcPts val="450"/>
              </a:spcAft>
              <a:buNone/>
            </a:pPr>
            <a:r>
              <a:rPr lang="en-US" sz="1050" b="1" dirty="0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ההנחה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11480" y="2910334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הגוף הקמור יכיל יותר אזורים ריקים בצד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החניכיים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בגלל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מבנה הקשת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הלסת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381000" y="3467546"/>
            <a:ext cx="8382000" cy="595313"/>
          </a:xfrm>
          <a:prstGeom prst="roundRect">
            <a:avLst>
              <a:gd name="adj" fmla="val 12800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00050" y="3467546"/>
            <a:ext cx="0" cy="595312"/>
          </a:xfrm>
          <a:prstGeom prst="line">
            <a:avLst/>
          </a:prstGeom>
          <a:noFill/>
          <a:ln w="381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8"/>
              <p:cNvSpPr/>
              <p:nvPr/>
            </p:nvSpPr>
            <p:spPr>
              <a:xfrm>
                <a:off x="450342" y="3658046"/>
                <a:ext cx="8122158" cy="2143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r" rtl="1">
                  <a:lnSpc>
                    <a:spcPts val="1688"/>
                  </a:lnSpc>
                  <a:buNone/>
                </a:pPr>
                <a:r>
                  <a:rPr lang="en-US" sz="1125" dirty="0">
                    <a:solidFill>
                      <a:srgbClr val="1A1A1A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אם יש פער </a:t>
                </a:r>
                <a:r>
                  <a:rPr lang="en-US" sz="1125" dirty="0" err="1">
                    <a:solidFill>
                      <a:srgbClr val="1A1A1A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מובהק</a:t>
                </a:r>
                <a:r>
                  <a:rPr lang="en-US" sz="1125" dirty="0">
                    <a:solidFill>
                      <a:srgbClr val="1A1A1A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:r>
                  <a:rPr lang="he-IL" sz="1125" dirty="0">
                    <a:solidFill>
                      <a:srgbClr val="1A1A1A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(</a:t>
                </a:r>
                <a:r>
                  <a:rPr lang="en-US" sz="1125" dirty="0">
                    <a:solidFill>
                      <a:srgbClr val="1A1A1A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מעל66% </a:t>
                </a:r>
                <a:r>
                  <a:rPr lang="he-IL" sz="1125" dirty="0">
                    <a:solidFill>
                      <a:srgbClr val="1A1A1A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) </a:t>
                </a:r>
                <a:r>
                  <a:rPr lang="en-US" sz="1125" dirty="0" err="1">
                    <a:solidFill>
                      <a:srgbClr val="1A1A1A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לצד</a:t>
                </a:r>
                <a:r>
                  <a:rPr lang="en-US" sz="1125" dirty="0">
                    <a:solidFill>
                      <a:srgbClr val="1A1A1A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:r>
                  <a:rPr lang="en-US" sz="1125" dirty="0" err="1">
                    <a:solidFill>
                      <a:srgbClr val="1A1A1A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אחד</a:t>
                </a:r>
                <a:r>
                  <a:rPr lang="en-US" sz="1125" dirty="0">
                    <a:solidFill>
                      <a:srgbClr val="1A1A1A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he-IL" sz="1125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←</m:t>
                    </m:r>
                  </m:oMath>
                </a14:m>
                <a:r>
                  <a:rPr lang="en-US" sz="1125" dirty="0">
                    <a:solidFill>
                      <a:srgbClr val="1A1A1A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:r>
                  <a:rPr lang="en-US" sz="1125" dirty="0" err="1">
                    <a:solidFill>
                      <a:srgbClr val="1A1A1A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זהו</a:t>
                </a:r>
                <a:r>
                  <a:rPr lang="en-US" sz="1125" dirty="0">
                    <a:solidFill>
                      <a:srgbClr val="1A1A1A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צד החניכיים</a:t>
                </a:r>
                <a:endParaRPr lang="en-US" sz="1125" dirty="0"/>
              </a:p>
            </p:txBody>
          </p:sp>
        </mc:Choice>
        <mc:Fallback xmlns="">
          <p:sp>
            <p:nvSpPr>
              <p:cNvPr id="10" name="Text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342" y="3658046"/>
                <a:ext cx="8122158" cy="214313"/>
              </a:xfrm>
              <a:prstGeom prst="rect">
                <a:avLst/>
              </a:prstGeom>
              <a:blipFill>
                <a:blip r:embed="rId3"/>
                <a:stretch>
                  <a:fillRect t="-8571" r="-1051" b="-34286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76309" y="0"/>
            <a:ext cx="7797873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r" rtl="1">
              <a:lnSpc>
                <a:spcPts val="3600"/>
              </a:lnSpc>
              <a:buNone/>
            </a:pPr>
            <a:r>
              <a:rPr lang="en-US" sz="3600" b="1" dirty="0" err="1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שלב</a:t>
            </a:r>
            <a:r>
              <a:rPr lang="he-IL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4: </a:t>
            </a: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Gingivitis Segmentation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" y="1703040"/>
            <a:ext cx="8382000" cy="645765"/>
          </a:xfrm>
          <a:prstGeom prst="roundRect">
            <a:avLst>
              <a:gd name="adj" fmla="val 11800"/>
            </a:avLst>
          </a:prstGeom>
          <a:solidFill>
            <a:srgbClr val="0077B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292" y="1912590"/>
            <a:ext cx="8122158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785"/>
              </a:lnSpc>
              <a:buNone/>
            </a:pPr>
            <a:r>
              <a:rPr lang="en-US" sz="12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השלב הקריטי: אבחון המחלה בפועל</a:t>
            </a:r>
            <a:endParaRPr lang="en-US" sz="1275" dirty="0"/>
          </a:p>
        </p:txBody>
      </p:sp>
      <p:sp>
        <p:nvSpPr>
          <p:cNvPr id="5" name="Text 3"/>
          <p:cNvSpPr/>
          <p:nvPr/>
        </p:nvSpPr>
        <p:spPr>
          <a:xfrm>
            <a:off x="381000" y="2501205"/>
            <a:ext cx="8382000" cy="595313"/>
          </a:xfrm>
          <a:prstGeom prst="roundRect">
            <a:avLst>
              <a:gd name="adj" fmla="val 12800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11480" y="2691705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מתבצע לאחר בידוד אזור העניין (ROI)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וסינון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שיניים ורקע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381000" y="3248918"/>
            <a:ext cx="8382000" cy="839093"/>
          </a:xfrm>
          <a:prstGeom prst="roundRect">
            <a:avLst>
              <a:gd name="adj" fmla="val 9081"/>
            </a:avLst>
          </a:prstGeom>
          <a:solidFill>
            <a:srgbClr val="FFF3E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00050" y="3248918"/>
            <a:ext cx="0" cy="839093"/>
          </a:xfrm>
          <a:prstGeom prst="line">
            <a:avLst/>
          </a:prstGeom>
          <a:noFill/>
          <a:ln w="381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0342" y="3439418"/>
            <a:ext cx="812215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470"/>
              </a:lnSpc>
              <a:spcAft>
                <a:spcPts val="450"/>
              </a:spcAft>
              <a:buNone/>
            </a:pPr>
            <a:r>
              <a:rPr lang="en-US" sz="105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האתגר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0342" y="3683198"/>
            <a:ext cx="812215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הבדלה בין רקמה בריאה למודלקת דורשת אבחנה דקה של גוונים ומרקמים</a:t>
            </a:r>
            <a:endParaRPr lang="en-US" sz="1125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46651" y="0"/>
            <a:ext cx="4478845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r" rtl="1">
              <a:lnSpc>
                <a:spcPts val="3600"/>
              </a:lnSpc>
              <a:buNone/>
            </a:pPr>
            <a:r>
              <a:rPr lang="en-US" sz="3600" b="1" dirty="0" err="1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מיקוד</a:t>
            </a: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בפרטים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" y="1774478"/>
            <a:ext cx="8382000" cy="633413"/>
          </a:xfrm>
          <a:prstGeom prst="roundRect">
            <a:avLst>
              <a:gd name="adj" fmla="val 12030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292" y="1984028"/>
            <a:ext cx="812215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 נדרש לזהות שינויים מינוריים באדמומיות ונפיחות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381000" y="2579340"/>
            <a:ext cx="8382000" cy="633413"/>
          </a:xfrm>
          <a:prstGeom prst="roundRect">
            <a:avLst>
              <a:gd name="adj" fmla="val 12030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04813" y="2579340"/>
            <a:ext cx="0" cy="633413"/>
          </a:xfrm>
          <a:prstGeom prst="line">
            <a:avLst/>
          </a:prstGeom>
          <a:noFill/>
          <a:ln w="47625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79870" y="2788890"/>
            <a:ext cx="8073581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גודל קלט קטן יותר (256×256)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כדי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לאפשר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למודל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להתמקד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בפרטים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הקטנים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381000" y="3384203"/>
            <a:ext cx="8382000" cy="632371"/>
          </a:xfrm>
          <a:prstGeom prst="roundRect">
            <a:avLst>
              <a:gd name="adj" fmla="val 12050"/>
            </a:avLst>
          </a:prstGeom>
          <a:solidFill>
            <a:srgbClr val="0077B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31292" y="3593753"/>
            <a:ext cx="8122158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 </a:t>
            </a:r>
            <a:r>
              <a:rPr lang="en-US" sz="12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אומן</a:t>
            </a: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למשך70 </a:t>
            </a:r>
            <a:r>
              <a:rPr lang="he-IL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אפוקים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97343" y="-2721"/>
            <a:ext cx="4935474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r" rtl="1">
              <a:lnSpc>
                <a:spcPts val="3600"/>
              </a:lnSpc>
              <a:buNone/>
            </a:pPr>
            <a:r>
              <a:rPr lang="en-US" sz="3600" b="1" dirty="0" err="1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אינטגרציה</a:t>
            </a: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סופית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" y="1714946"/>
            <a:ext cx="8382000" cy="595313"/>
          </a:xfrm>
          <a:prstGeom prst="roundRect">
            <a:avLst>
              <a:gd name="adj" fmla="val 12800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11480" y="1905446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איחוי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קרופי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החיזוי למפה בינארית מלאה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381000" y="2462659"/>
            <a:ext cx="8382000" cy="595313"/>
          </a:xfrm>
          <a:prstGeom prst="roundRect">
            <a:avLst>
              <a:gd name="adj" fmla="val 12800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11480" y="2653159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ביצוע חיתוך (Intersection)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האזור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שזוהה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כ"חניכיים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בשלב 3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381000" y="3210371"/>
            <a:ext cx="8382000" cy="865733"/>
          </a:xfrm>
          <a:prstGeom prst="roundRect">
            <a:avLst>
              <a:gd name="adj" fmla="val 8802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04813" y="3210371"/>
            <a:ext cx="0" cy="865733"/>
          </a:xfrm>
          <a:prstGeom prst="line">
            <a:avLst/>
          </a:prstGeom>
          <a:noFill/>
          <a:ln w="47625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0058" y="3400871"/>
            <a:ext cx="8112442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התוצאה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0058" y="3671292"/>
            <a:ext cx="8112442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spcBef>
                <a:spcPts val="450"/>
              </a:spcBef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צמצום False Positives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ומניעת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סימון שגוי של שפתיים/לשון</a:t>
            </a:r>
            <a:endParaRPr lang="en-US" sz="1125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91343" y="0"/>
            <a:ext cx="5122027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r" rtl="1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מאגר הנתונים (Dataset)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" y="1582192"/>
            <a:ext cx="8382000" cy="786705"/>
          </a:xfrm>
          <a:prstGeom prst="roundRect">
            <a:avLst>
              <a:gd name="adj" fmla="val 9686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91668" y="1753642"/>
            <a:ext cx="819988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470"/>
              </a:lnSpc>
              <a:spcAft>
                <a:spcPts val="450"/>
              </a:spcAft>
              <a:buNone/>
            </a:pPr>
            <a:r>
              <a:rPr lang="en-US" sz="1050" b="1" dirty="0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אימון מודל שיניים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91668" y="1997422"/>
            <a:ext cx="819988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575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497 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תמונות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403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אימון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בדיקה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381000" y="2502247"/>
            <a:ext cx="8382000" cy="786705"/>
          </a:xfrm>
          <a:prstGeom prst="roundRect">
            <a:avLst>
              <a:gd name="adj" fmla="val 9686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91668" y="2673697"/>
            <a:ext cx="819988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470"/>
              </a:lnSpc>
              <a:spcAft>
                <a:spcPts val="450"/>
              </a:spcAft>
              <a:buNone/>
            </a:pPr>
            <a:r>
              <a:rPr lang="en-US" sz="1050" b="1" dirty="0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אימון מודל דלקת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91668" y="2917478"/>
            <a:ext cx="819988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rtl="1">
              <a:lnSpc>
                <a:spcPts val="1575"/>
              </a:lnSpc>
            </a:pP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429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תמונות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(338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אימון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91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בדיקה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381000" y="3422303"/>
            <a:ext cx="8382000" cy="786705"/>
          </a:xfrm>
          <a:prstGeom prst="roundRect">
            <a:avLst>
              <a:gd name="adj" fmla="val 9686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00050" y="3422303"/>
            <a:ext cx="0" cy="786705"/>
          </a:xfrm>
          <a:prstGeom prst="line">
            <a:avLst/>
          </a:prstGeom>
          <a:noFill/>
          <a:ln w="381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0530" y="3593753"/>
            <a:ext cx="816102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470"/>
              </a:lnSpc>
              <a:spcAft>
                <a:spcPts val="450"/>
              </a:spcAft>
              <a:buNone/>
            </a:pPr>
            <a:r>
              <a:rPr lang="en-US" sz="105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בדיקה חיצונית (Blind Test)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30530" y="3837533"/>
            <a:ext cx="81610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575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תמונות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חדשות לחלוטין מצוות הרופאים לאימות קליני</a:t>
            </a:r>
            <a:endParaRPr lang="en-US" sz="1125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24771" y="0"/>
            <a:ext cx="4566285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r" rtl="1">
              <a:lnSpc>
                <a:spcPts val="3600"/>
              </a:lnSpc>
              <a:buNone/>
            </a:pPr>
            <a:r>
              <a:rPr lang="en-US" sz="3600" b="1" dirty="0" err="1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אתגרים</a:t>
            </a:r>
            <a:r>
              <a:rPr lang="he-IL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</a:t>
            </a: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רזולוציה וגודל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" y="1926431"/>
            <a:ext cx="8382000" cy="557213"/>
          </a:xfrm>
          <a:prstGeom prst="roundRect">
            <a:avLst>
              <a:gd name="adj" fmla="val 13675"/>
            </a:avLst>
          </a:prstGeom>
          <a:solidFill>
            <a:srgbClr val="FFF3E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400050" y="1926431"/>
            <a:ext cx="0" cy="557213"/>
          </a:xfrm>
          <a:prstGeom prst="line">
            <a:avLst/>
          </a:prstGeom>
          <a:noFill/>
          <a:ln w="381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30530" y="2097881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סגמנטציה דורשת דאטה רב יותר מקלאסיפיקציה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381000" y="2616994"/>
            <a:ext cx="8382000" cy="557213"/>
          </a:xfrm>
          <a:prstGeom prst="roundRect">
            <a:avLst>
              <a:gd name="adj" fmla="val 13675"/>
            </a:avLst>
          </a:prstGeom>
          <a:solidFill>
            <a:srgbClr val="FFF3E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00050" y="2616994"/>
            <a:ext cx="0" cy="557213"/>
          </a:xfrm>
          <a:prstGeom prst="line">
            <a:avLst/>
          </a:prstGeom>
          <a:noFill/>
          <a:ln w="381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30530" y="2788444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תמונות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ברזולוציה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עצומה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(3000×4000)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דרשו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משאבי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זיכרון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(VRAM)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כבדים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381000" y="3307556"/>
            <a:ext cx="8382000" cy="557213"/>
          </a:xfrm>
          <a:prstGeom prst="roundRect">
            <a:avLst>
              <a:gd name="adj" fmla="val 13675"/>
            </a:avLst>
          </a:prstGeom>
          <a:solidFill>
            <a:srgbClr val="FFF3E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00050" y="3307556"/>
            <a:ext cx="0" cy="557213"/>
          </a:xfrm>
          <a:prstGeom prst="line">
            <a:avLst/>
          </a:prstGeom>
          <a:noFill/>
          <a:ln w="381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0530" y="3479006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גדלים לא אחידים של תמונות המקור יצרו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מורכבות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ב- 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</a:t>
            </a:r>
            <a:endParaRPr lang="en-US" sz="1125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11421" y="-2721"/>
            <a:ext cx="4478845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r" rtl="1">
              <a:lnSpc>
                <a:spcPts val="3600"/>
              </a:lnSpc>
              <a:buNone/>
            </a:pPr>
            <a:r>
              <a:rPr lang="en-US" sz="3600" b="1" dirty="0" err="1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אתגרי</a:t>
            </a:r>
            <a:r>
              <a:rPr lang="he-IL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ם </a:t>
            </a: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</a:t>
            </a:r>
            <a:r>
              <a:rPr lang="he-IL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3600" b="1" dirty="0" err="1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צילום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" y="1850231"/>
            <a:ext cx="8382000" cy="595313"/>
          </a:xfrm>
          <a:prstGeom prst="roundRect">
            <a:avLst>
              <a:gd name="adj" fmla="val 12800"/>
            </a:avLst>
          </a:prstGeom>
          <a:solidFill>
            <a:srgbClr val="FFF3E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400050" y="1850231"/>
            <a:ext cx="0" cy="595312"/>
          </a:xfrm>
          <a:prstGeom prst="line">
            <a:avLst/>
          </a:prstGeom>
          <a:noFill/>
          <a:ln w="381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0342" y="2040731"/>
            <a:ext cx="812215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חוסר סטנדרטיזציה בזוויות הצילום ובמרחק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381000" y="2597944"/>
            <a:ext cx="8382000" cy="595313"/>
          </a:xfrm>
          <a:prstGeom prst="roundRect">
            <a:avLst>
              <a:gd name="adj" fmla="val 12800"/>
            </a:avLst>
          </a:prstGeom>
          <a:solidFill>
            <a:srgbClr val="FFF3E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00050" y="2597944"/>
            <a:ext cx="0" cy="595312"/>
          </a:xfrm>
          <a:prstGeom prst="line">
            <a:avLst/>
          </a:prstGeom>
          <a:noFill/>
          <a:ln w="381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0342" y="2788444"/>
            <a:ext cx="812215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שונות גיאומטרית גבוהה מקשה על המודל לזהות תבניות קבועות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381000" y="3345656"/>
            <a:ext cx="8382000" cy="595313"/>
          </a:xfrm>
          <a:prstGeom prst="roundRect">
            <a:avLst>
              <a:gd name="adj" fmla="val 12800"/>
            </a:avLst>
          </a:prstGeom>
          <a:solidFill>
            <a:srgbClr val="FFF3E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00050" y="3345656"/>
            <a:ext cx="0" cy="595312"/>
          </a:xfrm>
          <a:prstGeom prst="line">
            <a:avLst/>
          </a:prstGeom>
          <a:noFill/>
          <a:ln w="381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0342" y="3536156"/>
            <a:ext cx="812215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קושי בהתמודדות עם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אביזרים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אורתודונטיים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כגון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גשר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המסתירים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את החניכיים</a:t>
            </a:r>
            <a:endParaRPr lang="en-US" sz="1125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54507" y="3810"/>
            <a:ext cx="5013144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r" rtl="1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מדדי הערכה (Metrics)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" y="1839367"/>
            <a:ext cx="8382000" cy="960983"/>
          </a:xfrm>
          <a:prstGeom prst="roundRect">
            <a:avLst>
              <a:gd name="adj" fmla="val 7929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404813" y="1839367"/>
            <a:ext cx="0" cy="960983"/>
          </a:xfrm>
          <a:prstGeom prst="line">
            <a:avLst/>
          </a:prstGeom>
          <a:noFill/>
          <a:ln w="47625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99681" y="2067967"/>
            <a:ext cx="8034719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</a:t>
            </a:r>
            <a:r>
              <a:rPr lang="he-IL" sz="1200" b="1" dirty="0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</a:t>
            </a:r>
            <a:r>
              <a:rPr lang="en-US" sz="1200" b="1" dirty="0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(Intersection Over Union)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99681" y="2357438"/>
            <a:ext cx="8034719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יחס שטח החפיפה בין החיזוי לאמת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381000" y="2990850"/>
            <a:ext cx="8382000" cy="960983"/>
          </a:xfrm>
          <a:prstGeom prst="roundRect">
            <a:avLst>
              <a:gd name="adj" fmla="val 7929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04813" y="2990850"/>
            <a:ext cx="0" cy="960983"/>
          </a:xfrm>
          <a:prstGeom prst="line">
            <a:avLst/>
          </a:prstGeom>
          <a:noFill/>
          <a:ln w="47625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99681" y="3219450"/>
            <a:ext cx="8034719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Dice Score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9681" y="3508921"/>
            <a:ext cx="8034719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מדד רגיש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לאיזון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בין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קריטי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למשימות רפואיות</a:t>
            </a:r>
            <a:endParaRPr lang="en-US" sz="1125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18B4F31-01D8-51BD-B856-31151D8271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245" y="1070752"/>
            <a:ext cx="4434840" cy="2420972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91990" y="0"/>
            <a:ext cx="4478845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תוצאות כמותיות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" y="1713161"/>
            <a:ext cx="8382000" cy="870496"/>
          </a:xfrm>
          <a:prstGeom prst="roundRect">
            <a:avLst>
              <a:gd name="adj" fmla="val 8754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404813" y="1713161"/>
            <a:ext cx="0" cy="870496"/>
          </a:xfrm>
          <a:prstGeom prst="line">
            <a:avLst/>
          </a:prstGeom>
          <a:noFill/>
          <a:ln w="47625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60058" y="1903661"/>
            <a:ext cx="8112442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 שיניים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60058" y="2193131"/>
            <a:ext cx="81124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575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הצלחה בהפרדה גם בתאורה לא אחידה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381000" y="2736056"/>
            <a:ext cx="8382000" cy="594271"/>
          </a:xfrm>
          <a:prstGeom prst="roundRect">
            <a:avLst>
              <a:gd name="adj" fmla="val 12822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04813" y="2736056"/>
            <a:ext cx="0" cy="594271"/>
          </a:xfrm>
          <a:prstGeom prst="line">
            <a:avLst/>
          </a:prstGeom>
          <a:noFill/>
          <a:ln w="47625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0058" y="2926556"/>
            <a:ext cx="8112442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 דלקת חניכיים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1000" y="3482727"/>
            <a:ext cx="8382000" cy="595313"/>
          </a:xfrm>
          <a:prstGeom prst="roundRect">
            <a:avLst>
              <a:gd name="adj" fmla="val 12800"/>
            </a:avLst>
          </a:prstGeom>
          <a:solidFill>
            <a:srgbClr val="E8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11480" y="3673227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88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בדיקה חיצונית: נרשמה ירידה קלה אך צפויה, המעידה על יכולת הכללה טובה</a:t>
            </a:r>
            <a:endParaRPr lang="en-US" sz="1125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91609" y="-2721"/>
            <a:ext cx="4478845" cy="781050"/>
          </a:xfrm>
          <a:prstGeom prst="rect">
            <a:avLst/>
          </a:prstGeom>
          <a:noFill/>
          <a:ln/>
        </p:spPr>
        <p:txBody>
          <a:bodyPr wrap="square" lIns="190500" tIns="228600" rIns="190500" bIns="95250" rtlCol="0" anchor="t"/>
          <a:lstStyle/>
          <a:p>
            <a:pPr marL="0" indent="0" algn="r" rtl="1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ניתוח איכותני ומסקנות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" y="1581150"/>
            <a:ext cx="8382000" cy="557213"/>
          </a:xfrm>
          <a:prstGeom prst="roundRect">
            <a:avLst>
              <a:gd name="adj" fmla="val 13675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400050" y="1581150"/>
            <a:ext cx="0" cy="557213"/>
          </a:xfrm>
          <a:prstGeom prst="line">
            <a:avLst/>
          </a:prstGeom>
          <a:noFill/>
          <a:ln w="381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30530" y="1752600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הפחתת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רעשי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ם: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מנע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סימון שגוי של שפתיים/לשון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381000" y="2271713"/>
            <a:ext cx="8382000" cy="557213"/>
          </a:xfrm>
          <a:prstGeom prst="roundRect">
            <a:avLst>
              <a:gd name="adj" fmla="val 13675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00050" y="2271713"/>
            <a:ext cx="0" cy="557213"/>
          </a:xfrm>
          <a:prstGeom prst="line">
            <a:avLst/>
          </a:prstGeom>
          <a:noFill/>
          <a:ln w="381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30530" y="2443163"/>
            <a:ext cx="81610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רגישות</a:t>
            </a:r>
            <a:r>
              <a:rPr lang="he-IL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זיהוי דלקות עדינות בשלבים התחלתיים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381000" y="2962275"/>
            <a:ext cx="8382000" cy="557213"/>
          </a:xfrm>
          <a:prstGeom prst="roundRect">
            <a:avLst>
              <a:gd name="adj" fmla="val 13675"/>
            </a:avLst>
          </a:prstGeom>
          <a:solidFill>
            <a:srgbClr val="0077B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91668" y="3133725"/>
            <a:ext cx="8199882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הוכח כי ניתן </a:t>
            </a:r>
            <a:r>
              <a:rPr lang="en-US" sz="1125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להשתמש</a:t>
            </a:r>
            <a:r>
              <a:rPr lang="en-US" sz="11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ב</a:t>
            </a:r>
            <a:r>
              <a:rPr lang="he-IL" sz="11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1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r>
              <a:rPr lang="he-IL" sz="11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לאבחון</a:t>
            </a:r>
            <a:r>
              <a:rPr lang="en-US" sz="11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מדויק ללא ציוד הדמיה יקר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381000" y="3652838"/>
            <a:ext cx="8382000" cy="557213"/>
          </a:xfrm>
          <a:prstGeom prst="roundRect">
            <a:avLst>
              <a:gd name="adj" fmla="val 13675"/>
            </a:avLst>
          </a:prstGeom>
          <a:solidFill>
            <a:srgbClr val="0077B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91668" y="3824288"/>
            <a:ext cx="8199882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88"/>
              </a:lnSpc>
              <a:buNone/>
            </a:pPr>
            <a:r>
              <a:rPr lang="en-US" sz="11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פירוק </a:t>
            </a:r>
            <a:r>
              <a:rPr lang="en-US" sz="1125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הבעיה</a:t>
            </a:r>
            <a:r>
              <a:rPr lang="en-US" sz="11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ל</a:t>
            </a:r>
            <a:r>
              <a:rPr lang="he-IL" sz="11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</a:t>
            </a:r>
            <a:r>
              <a:rPr lang="en-US" sz="11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שלבים היה המפתח להצלחה</a:t>
            </a:r>
            <a:endParaRPr lang="en-US" sz="1125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52400" cy="5143500"/>
          </a:xfrm>
          <a:prstGeom prst="rect">
            <a:avLst/>
          </a:prstGeom>
          <a:solidFill>
            <a:srgbClr val="FB8B2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248150" y="734318"/>
            <a:ext cx="952500" cy="57150"/>
          </a:xfrm>
          <a:prstGeom prst="rect">
            <a:avLst/>
          </a:prstGeom>
          <a:solidFill>
            <a:srgbClr val="D81E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125986" y="1210568"/>
            <a:ext cx="119682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200"/>
              </a:lnSpc>
              <a:spcAft>
                <a:spcPts val="2400"/>
              </a:spcAft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סיכום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2561927" y="2201168"/>
            <a:ext cx="4324796" cy="131058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6858149" y="2201168"/>
            <a:ext cx="0" cy="1310580"/>
          </a:xfrm>
          <a:prstGeom prst="line">
            <a:avLst/>
          </a:prstGeom>
          <a:noFill/>
          <a:ln w="57150">
            <a:solidFill>
              <a:srgbClr val="FB8B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830147" y="2505968"/>
            <a:ext cx="3731207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המערכת מספקת כלי עזר אובייקטיבי לרופא השיניים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830147" y="2932658"/>
            <a:ext cx="3731207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216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מאפשרת "</a:t>
            </a:r>
            <a:r>
              <a:rPr lang="en-US" sz="135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דעה</a:t>
            </a: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שנייה</a:t>
            </a:r>
            <a:r>
              <a:rPr lang="he-IL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</a:t>
            </a: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ותיעוד עקבי</a:t>
            </a:r>
            <a:endParaRPr lang="en-US" sz="1350"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</TotalTime>
  <Words>1111</Words>
  <Application>Microsoft Office PowerPoint</Application>
  <PresentationFormat>On-screen Show (16:9)</PresentationFormat>
  <Paragraphs>205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Arial</vt:lpstr>
      <vt:lpstr>Cambria Math</vt:lpstr>
      <vt:lpstr>Georgia</vt:lpstr>
      <vt:lpstr>Tw Cen MT</vt:lpstr>
      <vt:lpstr>Tw Cen MT Condensed</vt:lpstr>
      <vt:lpstr>Wingdings 3</vt:lpstr>
      <vt:lpstr>Integral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Gingivitis Detection - Enhanced Design</dc:title>
  <dc:subject>PptxGenJS Presentation</dc:subject>
  <dc:creator>Amir Ezra Sorni &amp; Daniel Yehoshua</dc:creator>
  <cp:lastModifiedBy>Amir Sorani</cp:lastModifiedBy>
  <cp:revision>16</cp:revision>
  <dcterms:created xsi:type="dcterms:W3CDTF">2025-12-10T15:10:01Z</dcterms:created>
  <dcterms:modified xsi:type="dcterms:W3CDTF">2025-12-17T11:05:33Z</dcterms:modified>
</cp:coreProperties>
</file>