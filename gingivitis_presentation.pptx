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1E5B"/>
    <a:srgbClr val="E8F4F8"/>
    <a:srgbClr val="0A24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891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931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133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6750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7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4309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576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9262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98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3061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370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444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58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1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B8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86700" y="964109"/>
            <a:ext cx="762000" cy="57150"/>
          </a:xfrm>
          <a:prstGeom prst="rect">
            <a:avLst/>
          </a:prstGeom>
          <a:solidFill>
            <a:srgbClr val="D81E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16767" y="1040309"/>
            <a:ext cx="4031933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620"/>
              </a:lnSpc>
              <a:spcAft>
                <a:spcPts val="15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זיהוי דלקת חניכיים</a:t>
            </a:r>
            <a:endParaRPr lang="en-US" sz="4200" dirty="0"/>
          </a:p>
          <a:p>
            <a:pPr marL="0" indent="0" algn="r" rtl="1">
              <a:lnSpc>
                <a:spcPts val="4620"/>
              </a:lnSpc>
              <a:spcAft>
                <a:spcPts val="15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בעזרת רשת נוירונים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23316" y="2556570"/>
            <a:ext cx="8044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E9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Research Project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1050" y="2948880"/>
            <a:ext cx="7886700" cy="1287661"/>
          </a:xfrm>
          <a:prstGeom prst="roundRect">
            <a:avLst>
              <a:gd name="adj" fmla="val 295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648700" y="2948880"/>
            <a:ext cx="0" cy="1287661"/>
          </a:xfrm>
          <a:prstGeom prst="line">
            <a:avLst/>
          </a:prstGeom>
          <a:noFill/>
          <a:ln w="38100">
            <a:solidFill>
              <a:srgbClr val="FB8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1822" y="3177480"/>
            <a:ext cx="75392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אמיר </a:t>
            </a:r>
            <a:r>
              <a:rPr lang="en-US" sz="13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עזרא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סורני</a:t>
            </a:r>
            <a:r>
              <a:rPr lang="he-IL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דניאל יהושוע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1822" y="3531691"/>
            <a:ext cx="7539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בהנחיית: </a:t>
            </a:r>
            <a:r>
              <a:rPr lang="he-IL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אורי</a:t>
            </a: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בריט</a:t>
            </a:r>
            <a:r>
              <a:rPr lang="he-IL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שמעון ברבי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61822" y="3807916"/>
            <a:ext cx="7539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125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הטכניון</a:t>
            </a: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he-IL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מכון</a:t>
            </a: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טכנולוגי לישראל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9638"/>
            <a:ext cx="9144000" cy="0"/>
          </a:xfrm>
          <a:prstGeom prst="line">
            <a:avLst/>
          </a:prstGeom>
          <a:noFill/>
          <a:ln w="28575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21493" y="0"/>
            <a:ext cx="4517708" cy="895350"/>
          </a:xfrm>
          <a:prstGeom prst="rect">
            <a:avLst/>
          </a:prstGeom>
          <a:noFill/>
          <a:ln/>
        </p:spPr>
        <p:txBody>
          <a:bodyPr wrap="square" lIns="285750" tIns="323850" rIns="285750" bIns="17145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שיתוף פעולה מחקרי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1549747"/>
            <a:ext cx="8077200" cy="9029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23900" y="1549747"/>
            <a:ext cx="0" cy="902940"/>
          </a:xfrm>
          <a:prstGeom prst="line">
            <a:avLst/>
          </a:prstGeom>
          <a:noFill/>
          <a:ln w="762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8972" y="1854547"/>
            <a:ext cx="753922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נעשה בשיתוף פעולה מחקרי הדוק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85800" y="2681288"/>
            <a:ext cx="8077200" cy="883890"/>
          </a:xfrm>
          <a:prstGeom prst="rect">
            <a:avLst/>
          </a:prstGeom>
          <a:solidFill>
            <a:srgbClr val="0A24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1248" y="2986088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שותפות עם רופאי שיניים מומחים לקבלת דאטה והנחיה קלינית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793778"/>
            <a:ext cx="8077200" cy="8763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23900" y="3793778"/>
            <a:ext cx="0" cy="876300"/>
          </a:xfrm>
          <a:prstGeom prst="line">
            <a:avLst/>
          </a:prstGeom>
          <a:noFill/>
          <a:ln w="76200">
            <a:solidFill>
              <a:srgbClr val="D81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" y="4098578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he-IL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</a:t>
            </a: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ידע רפואי עם יכולות למידה עמוקה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9638"/>
            <a:ext cx="9144000" cy="0"/>
          </a:xfrm>
          <a:prstGeom prst="line">
            <a:avLst/>
          </a:prstGeom>
          <a:noFill/>
          <a:ln w="28575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21493" y="0"/>
            <a:ext cx="4517708" cy="895350"/>
          </a:xfrm>
          <a:prstGeom prst="rect">
            <a:avLst/>
          </a:prstGeom>
          <a:noFill/>
          <a:ln/>
        </p:spPr>
        <p:txBody>
          <a:bodyPr wrap="square" lIns="285750" tIns="323850" rIns="285750" bIns="171450" rtlCol="0" anchor="t"/>
          <a:lstStyle/>
          <a:p>
            <a:pPr marL="0" indent="0" algn="r" rtl="1">
              <a:lnSpc>
                <a:spcPts val="3150"/>
              </a:lnSpc>
              <a:buNone/>
            </a:pPr>
            <a:r>
              <a:rPr lang="en-US" sz="3150" b="1" dirty="0" err="1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הבעיה</a:t>
            </a:r>
            <a:r>
              <a:rPr lang="he-IL" sz="3150" b="1" dirty="0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150" b="1" dirty="0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he-IL" sz="3150" b="1" dirty="0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150" b="1" dirty="0" err="1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דלקת</a:t>
            </a:r>
            <a:r>
              <a:rPr lang="en-US" sz="3150" b="1" dirty="0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חניכיים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1727150"/>
            <a:ext cx="1310283" cy="27655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14375" y="1727150"/>
            <a:ext cx="0" cy="2765524"/>
          </a:xfrm>
          <a:prstGeom prst="line">
            <a:avLst/>
          </a:prstGeom>
          <a:noFill/>
          <a:ln w="57150">
            <a:solidFill>
              <a:srgbClr val="3E9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5255" y="1993850"/>
            <a:ext cx="734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D8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95255" y="2275731"/>
            <a:ext cx="734127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דלקת חניכיים (Gingivitis) - אחת המחלות הכרוניות הנפוצות בעולם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86583" y="1727150"/>
            <a:ext cx="1309092" cy="27655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15158" y="1727150"/>
            <a:ext cx="0" cy="2765524"/>
          </a:xfrm>
          <a:prstGeom prst="line">
            <a:avLst/>
          </a:prstGeom>
          <a:noFill/>
          <a:ln w="57150">
            <a:solidFill>
              <a:srgbClr val="3E9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062" y="1993850"/>
            <a:ext cx="7329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D8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שכיחות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96062" y="2275731"/>
            <a:ext cx="732913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משפיעה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מאוכלוסיית המבוגרים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6175" y="1727150"/>
            <a:ext cx="5076825" cy="2765524"/>
          </a:xfrm>
          <a:prstGeom prst="rect">
            <a:avLst/>
          </a:prstGeom>
          <a:solidFill>
            <a:srgbClr val="0A24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62007" y="1955750"/>
            <a:ext cx="4634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מתחילה כזיהום חיידקי קל אך עלולה להחמיר לפריודונטיטיס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9638"/>
            <a:ext cx="9144000" cy="0"/>
          </a:xfrm>
          <a:prstGeom prst="line">
            <a:avLst/>
          </a:prstGeom>
          <a:noFill/>
          <a:ln w="28575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21493" y="0"/>
            <a:ext cx="4517708" cy="895350"/>
          </a:xfrm>
          <a:prstGeom prst="rect">
            <a:avLst/>
          </a:prstGeom>
          <a:noFill/>
          <a:ln/>
        </p:spPr>
        <p:txBody>
          <a:bodyPr wrap="square" lIns="285750" tIns="323850" rIns="285750" bIns="17145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A2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השלכות המחלה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39508" y="1558381"/>
            <a:ext cx="8077200" cy="786705"/>
          </a:xfrm>
          <a:prstGeom prst="rect">
            <a:avLst/>
          </a:prstGeom>
          <a:solidFill>
            <a:srgbClr val="D81E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1624" y="1856482"/>
            <a:ext cx="7694676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95"/>
              </a:lnSpc>
              <a:buNone/>
            </a:pPr>
            <a:r>
              <a:rPr lang="he-IL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אחד מהגורמים העיקריים </a:t>
            </a:r>
            <a:r>
              <a:rPr lang="en-US" sz="1425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לאובדן</a:t>
            </a: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שיניים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85800" y="2566988"/>
            <a:ext cx="8077200" cy="10990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14375" y="2566988"/>
            <a:ext cx="0" cy="1099096"/>
          </a:xfrm>
          <a:prstGeom prst="line">
            <a:avLst/>
          </a:prstGeom>
          <a:noFill/>
          <a:ln w="5715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917" y="2833688"/>
            <a:ext cx="763638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קשר למחלות סיסטמיות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859917" y="3155603"/>
            <a:ext cx="763638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מחלות כלל גופניות כגון סוכרת ומחלות לב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856583"/>
            <a:ext cx="8077200" cy="773311"/>
          </a:xfrm>
          <a:prstGeom prst="rect">
            <a:avLst/>
          </a:prstGeom>
          <a:solidFill>
            <a:srgbClr val="0A24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1624" y="4123283"/>
            <a:ext cx="76946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חשיבות האבחון המוקדם למניעת נזקים בלתי הפיכים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4155" y="65315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האבחון המסורתי כיום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6140" y="1828599"/>
            <a:ext cx="8077527" cy="557213"/>
          </a:xfrm>
          <a:prstGeom prst="roundRect">
            <a:avLst>
              <a:gd name="adj" fmla="val 13675"/>
            </a:avLst>
          </a:prstGeom>
          <a:solidFill>
            <a:srgbClr val="D81E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0332" y="2000048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מסתמך בעיקר על בדיקה ויזואלית ידנית של רופא השיניים</a:t>
            </a:r>
            <a:endParaRPr lang="en-US" sz="1125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1668" y="2495550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1668" y="2667000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מדידת עומק כיסים (Probing Depth)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83770" y="3209517"/>
            <a:ext cx="7968561" cy="800100"/>
          </a:xfrm>
          <a:prstGeom prst="roundRect">
            <a:avLst>
              <a:gd name="adj" fmla="val 9524"/>
            </a:avLst>
          </a:prstGeom>
          <a:solidFill>
            <a:srgbClr val="0A24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1668" y="3357563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D8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בחינת סימנים קליניים</a:t>
            </a:r>
            <a:endParaRPr lang="en-US" sz="1400" b="1" dirty="0">
              <a:solidFill>
                <a:srgbClr val="D81E5B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91668" y="3614738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דימום, אדמומיות ונפיחות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8381E8-1A05-6C19-93A5-0AD7879DB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06" y="208864"/>
            <a:ext cx="2737649" cy="1494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9560" y="0"/>
            <a:ext cx="4663440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חסרונות השיטה הקיימת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2356" y="1520130"/>
            <a:ext cx="8382000" cy="542925"/>
          </a:xfrm>
          <a:prstGeom prst="roundRect">
            <a:avLst>
              <a:gd name="adj" fmla="val 14035"/>
            </a:avLst>
          </a:prstGeom>
          <a:solidFill>
            <a:srgbClr val="D81E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00050" y="1539180"/>
            <a:ext cx="0" cy="542925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9644" y="1691579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1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סובייקטיבי התלוי בבודק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1000" y="2215455"/>
            <a:ext cx="8382000" cy="542925"/>
          </a:xfrm>
          <a:prstGeom prst="roundRect">
            <a:avLst>
              <a:gd name="adj" fmla="val 1403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215455"/>
            <a:ext cx="0" cy="542925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0530" y="238690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גוזל זמן רב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2891730"/>
            <a:ext cx="8382000" cy="542925"/>
          </a:xfrm>
          <a:prstGeom prst="roundRect">
            <a:avLst>
              <a:gd name="adj" fmla="val 1403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891730"/>
            <a:ext cx="0" cy="542925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0530" y="3063180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רגיש לטעויות אנוש הנובעות מעייפות או חוסר ניסיון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00050" y="3644205"/>
            <a:ext cx="8382000" cy="607665"/>
          </a:xfrm>
          <a:prstGeom prst="roundRect">
            <a:avLst>
              <a:gd name="adj" fmla="val 12540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1480" y="3834705"/>
            <a:ext cx="816102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785"/>
              </a:lnSpc>
              <a:buNone/>
            </a:pPr>
            <a:r>
              <a:rPr lang="en-US" sz="1275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</a:t>
            </a:r>
            <a:r>
              <a:rPr lang="he-IL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קיים צורך בכלי אבחון אובייקטיבי ומדויק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4155" y="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הפתרון הטכנולוגי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05421"/>
            <a:ext cx="8382000" cy="884783"/>
          </a:xfrm>
          <a:prstGeom prst="roundRect">
            <a:avLst>
              <a:gd name="adj" fmla="val 86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705421"/>
            <a:ext cx="0" cy="884783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0058" y="1895921"/>
            <a:ext cx="8112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ראייה ממוחשבת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0058" y="2185392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סגמנטציה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למחלקות ברמת הפיקסל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742605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" y="2933105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ותיחום גבולות המחלה בצורה חדה וברורה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490317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480" y="3680817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הפרדה בין אזורים פתולוגיים לרקמות בריאות</a:t>
            </a:r>
            <a:endParaRPr lang="en-US" sz="112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E46F44-D432-5ED4-052E-37BC4ACB2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55" y="1705421"/>
            <a:ext cx="4189228" cy="22868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3655" y="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היתרון הקליני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5023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04073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אינדיקציה חזותית ומיקום מדויק של הדלקת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597944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788444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תבניות מורכבות שאינן נראות לעין האנושית בקלות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34565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3345656"/>
            <a:ext cx="0" cy="595312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0058" y="3536156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כוח החישוב של רשתות נוירונים לשיפור הדיוק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1267" y="-9253"/>
            <a:ext cx="4721733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מטרות העל והסגמנטציה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533971"/>
            <a:ext cx="8382000" cy="884783"/>
          </a:xfrm>
          <a:prstGeom prst="roundRect">
            <a:avLst>
              <a:gd name="adj" fmla="val 8612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724471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העל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2013942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מודל למידת מכונה לזיהוי וסימון אוטומטי של אזורים פתולוגיים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552105"/>
            <a:ext cx="8382000" cy="1704975"/>
          </a:xfrm>
          <a:prstGeom prst="roundRect">
            <a:avLst>
              <a:gd name="adj" fmla="val 446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1668" y="2723555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אלגוריתם סגמנטציה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52450" y="2980730"/>
            <a:ext cx="8039100" cy="1104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כל פיקסל בתמונה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מדויק של קו החניכיים (Gingival Margin)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בידוד אזורים המראים סימני דלקת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4155" y="9144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מטרות הערכה וממשק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86992"/>
            <a:ext cx="8382000" cy="922883"/>
          </a:xfrm>
          <a:prstGeom prst="roundRect">
            <a:avLst>
              <a:gd name="adj" fmla="val 825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886992"/>
            <a:ext cx="0" cy="922883"/>
          </a:xfrm>
          <a:prstGeom prst="line">
            <a:avLst/>
          </a:prstGeom>
          <a:noFill/>
          <a:ln w="476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9870" y="2096542"/>
            <a:ext cx="80735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הערכת ביצועים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9870" y="2386013"/>
            <a:ext cx="80735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השוואת מדדי דיוק (Dice,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קביעות מומחים (Ground Truth)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981325"/>
            <a:ext cx="8382000" cy="922883"/>
          </a:xfrm>
          <a:prstGeom prst="roundRect">
            <a:avLst>
              <a:gd name="adj" fmla="val 825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2981325"/>
            <a:ext cx="0" cy="922883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9870" y="3190875"/>
            <a:ext cx="80735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בסיסי (POC)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870" y="3480346"/>
            <a:ext cx="80735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אפשרות להעלאת תמונה וקבלת משוב חזותי מיידי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155" y="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l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ארכיטקטורת U-Net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52588"/>
            <a:ext cx="8382000" cy="876151"/>
          </a:xfrm>
          <a:prstGeom prst="roundRect">
            <a:avLst>
              <a:gd name="adj" fmla="val 8697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292" y="1862138"/>
            <a:ext cx="81221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הרשת הקלאסית לסגמנטציה ביו-רפואית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1292" y="2132558"/>
            <a:ext cx="8122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(Ronneberger et al., 2015)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700189"/>
            <a:ext cx="8382000" cy="633413"/>
          </a:xfrm>
          <a:prstGeom prst="roundRect">
            <a:avLst>
              <a:gd name="adj" fmla="val 1203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292" y="2909739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בנויה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-"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מצמצם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"(Encoder)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וחלק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מרחיב (Decoder)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3505051"/>
            <a:ext cx="8382000" cy="633413"/>
          </a:xfrm>
          <a:prstGeom prst="roundRect">
            <a:avLst>
              <a:gd name="adj" fmla="val 120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3505051"/>
            <a:ext cx="0" cy="633413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9870" y="3714601"/>
            <a:ext cx="80735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יעילה מאוד בזיהוי גבולות בתמונות רפואיות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2776" y="-5443"/>
            <a:ext cx="6635687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l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הארכיטקטורה </a:t>
            </a: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הנבחרת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U-Net++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00200"/>
            <a:ext cx="8382000" cy="838051"/>
          </a:xfrm>
          <a:prstGeom prst="roundRect">
            <a:avLst>
              <a:gd name="adj" fmla="val 9093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790700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גרסה משודרגת של U-Net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206112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(Zhou et al., 2018)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590651"/>
            <a:ext cx="8382000" cy="852488"/>
          </a:xfrm>
          <a:prstGeom prst="roundRect">
            <a:avLst>
              <a:gd name="adj" fmla="val 893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4813" y="2590651"/>
            <a:ext cx="0" cy="852487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0058" y="2781151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החידוש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0058" y="3038326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(Nested Layers)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בין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ה-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לשלב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Decoding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81000" y="3595539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3786039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כולל קונבולוציה, נורמליזציה ואקטיבציה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7686" y="0"/>
            <a:ext cx="5613028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מדוע </a:t>
            </a: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בחרנו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ב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U-Net++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5023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850231"/>
            <a:ext cx="0" cy="595312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0058" y="2040731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מספקת תוצאה מדויקת יותר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לעומת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U-Net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ה"רגיל"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597944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4813" y="2597944"/>
            <a:ext cx="0" cy="595312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0058" y="2788444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מצליחה לתת ביצועים עדיפים בתמונות רועשות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34565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3345656"/>
            <a:ext cx="0" cy="595312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058" y="3536156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מתמודדת טוב יותר עם הבדלים קטנים בין פיקסלים חיוביים לשליליים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83" y="0"/>
            <a:ext cx="5796180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סקירה כללית </a:t>
            </a: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של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ה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89795"/>
            <a:ext cx="8382000" cy="645765"/>
          </a:xfrm>
          <a:prstGeom prst="roundRect">
            <a:avLst>
              <a:gd name="adj" fmla="val 11800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292" y="1899345"/>
            <a:ext cx="812215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פועל בארבעה שלבים עוקבים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487960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678460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משמש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כעיבוד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מקדים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(Pre-processing)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לשלב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הבא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235672"/>
            <a:ext cx="8382000" cy="865733"/>
          </a:xfrm>
          <a:prstGeom prst="roundRect">
            <a:avLst>
              <a:gd name="adj" fmla="val 880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3235672"/>
            <a:ext cx="0" cy="865733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0058" y="3426172"/>
            <a:ext cx="8112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058" y="3696593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לבודד ולהתמקד ברקמת החניכיים בלבד לפני אבחון המחלה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3190" y="-21606"/>
            <a:ext cx="564549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של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ב 1: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549747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1668" y="1721197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הנתונים סומנו במקור בפורמט YOLO/Roboflow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240310"/>
            <a:ext cx="8382000" cy="1310580"/>
          </a:xfrm>
          <a:prstGeom prst="roundRect">
            <a:avLst>
              <a:gd name="adj" fmla="val 5814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1668" y="2411760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המרה </a:t>
            </a:r>
            <a:r>
              <a:rPr lang="en-US" sz="1050" b="1" dirty="0" err="1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לפורמט</a:t>
            </a: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מפה בינארית (</a:t>
            </a:r>
            <a:r>
              <a:rPr lang="en-US" sz="1050" b="1" dirty="0" err="1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BitMap</a:t>
            </a:r>
            <a:r>
              <a:rPr lang="he-IL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2655540"/>
            <a:ext cx="8039100" cy="723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פיקסלים רלוונטיים 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(לבן=רלוונטי)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שחור (לא רלוונטי)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684240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684240"/>
            <a:ext cx="0" cy="557213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0530" y="3855690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המסכה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משמשת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"אמת מוחלטת" לתהליך האימון.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9384" y="0"/>
            <a:ext cx="4127862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Augmentations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41128"/>
            <a:ext cx="8382000" cy="594271"/>
          </a:xfrm>
          <a:prstGeom prst="roundRect">
            <a:avLst>
              <a:gd name="adj" fmla="val 12822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831628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הגדלת גודל מערך האימון ושיפור הכללה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387798"/>
            <a:ext cx="8382000" cy="1762125"/>
          </a:xfrm>
          <a:prstGeom prst="roundRect">
            <a:avLst>
              <a:gd name="adj" fmla="val 4324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578298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טכניקות שהופעלו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854523"/>
            <a:ext cx="8001000" cy="1104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היפוך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צידי (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רוויה (Saturation)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התאמת גאמה ובהירות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9137" y="0"/>
            <a:ext cx="2886891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l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חיתוך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לקרופים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3118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02168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המקור גדולות מאוד, אך הרשת דורשת קלט בגודל קבוע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578894"/>
            <a:ext cx="8382000" cy="1381125"/>
          </a:xfrm>
          <a:prstGeom prst="roundRect">
            <a:avLst>
              <a:gd name="adj" fmla="val 551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2578894"/>
            <a:ext cx="0" cy="1381125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0058" y="2769394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בוצע חיתוך לקרופים בגדלים ספציפיים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9125" y="3045619"/>
            <a:ext cx="7953375" cy="723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שיני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ם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512×512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דלקת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256×256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7663" y="0"/>
            <a:ext cx="6524896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שלב 2: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Teeth Segmentation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82651"/>
            <a:ext cx="8382000" cy="800993"/>
          </a:xfrm>
          <a:prstGeom prst="roundRect">
            <a:avLst>
              <a:gd name="adj" fmla="val 951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82651"/>
            <a:ext cx="0" cy="80099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0530" y="185410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0530" y="209788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החניכיים ושאר חלקי הפה בעלי גוון אדום דומה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616994"/>
            <a:ext cx="8382000" cy="800993"/>
          </a:xfrm>
          <a:prstGeom prst="roundRect">
            <a:avLst>
              <a:gd name="adj" fmla="val 951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616994"/>
            <a:ext cx="0" cy="800993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0530" y="278844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0530" y="3032224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בשיניים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כ"עוגן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"(Anchor)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לזיהוי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מיקום החניכיים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1000" y="3551337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1668" y="3722787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רקמת החניכיים המודלקת לרוב מתקבצת סביב השיניים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9502" y="0"/>
            <a:ext cx="6808960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אימון בשיטת ה-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Cropping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3118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02168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U-Net++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להפרדה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ברמת הפיקסל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578894"/>
            <a:ext cx="8382000" cy="1381125"/>
          </a:xfrm>
          <a:prstGeom prst="roundRect">
            <a:avLst>
              <a:gd name="adj" fmla="val 551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2578894"/>
            <a:ext cx="0" cy="1381125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0058" y="2769394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מדוע</a:t>
            </a: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חיתוך</a:t>
            </a: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(Crop) </a:t>
            </a:r>
            <a:r>
              <a:rPr lang="he-IL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ולא</a:t>
            </a: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הקטנה</a:t>
            </a:r>
            <a:r>
              <a:rPr lang="he-IL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(Resize)</a:t>
            </a:r>
            <a:r>
              <a:rPr lang="he-IL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9125" y="3045619"/>
            <a:ext cx="7953375" cy="723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שמירה על הרזולוציה הגבוהה של הפרטים הקליניים</a:t>
            </a:r>
            <a:endParaRPr lang="en-US" sz="1350" dirty="0"/>
          </a:p>
          <a:p>
            <a:pPr marL="95250" indent="-95250" algn="r" rtl="1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בדרישת הרשת לקלט שהוא </a:t>
            </a: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חזקה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he-IL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(512×512)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4785" y="0"/>
            <a:ext cx="4896612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מגבלות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חישוביות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12119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712119"/>
            <a:ext cx="0" cy="59531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0342" y="1902619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גדולות מדי גורמות לזמן אימון ממושך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45983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459831"/>
            <a:ext cx="0" cy="595312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0342" y="2650331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פגיעה בהכללה: המודל עלול להתמקד בפרטים מקומיים במקום בתכונות רחבות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207544"/>
            <a:ext cx="8382000" cy="871538"/>
          </a:xfrm>
          <a:prstGeom prst="roundRect">
            <a:avLst>
              <a:gd name="adj" fmla="val 87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3207544"/>
            <a:ext cx="0" cy="871538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058" y="3398044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שיטת הקרופים פתרה בעיות אלו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60058" y="3688556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אומן </a:t>
            </a: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לבסוף</a:t>
            </a: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למשך</a:t>
            </a:r>
            <a:r>
              <a:rPr lang="he-IL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he-IL" sz="11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אפוקים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3103" y="0"/>
            <a:ext cx="626720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שלב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Gingival Retrieval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2834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91884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היוריסטית המבוססת על תוצאות מודל השיניים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476054"/>
            <a:ext cx="8382000" cy="839093"/>
          </a:xfrm>
          <a:prstGeom prst="roundRect">
            <a:avLst>
              <a:gd name="adj" fmla="val 908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66655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2910334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שיניים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פיקסלים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שכנים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באותו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גובה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346754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467546"/>
            <a:ext cx="0" cy="59531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342" y="3658046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סינון רעשים: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התעלמות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מרכיבים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הקטנים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אחוז אחד מהתמונה.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1990" y="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הפרדת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לסתות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5023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04073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מזהה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"מרווח" (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רצף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ללא שיניים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בגובה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מסוים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להבדיל בין לסתות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597944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788444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פיצול התמונה וחיפוש רכיבים בנפרד מעל ומתחת למרווח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34565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3345656"/>
            <a:ext cx="0" cy="59531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0342" y="3536156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זו יעילה ומהירה יותר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מאימון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מודלMulti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-class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נפרד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ללסתות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0043" y="0"/>
            <a:ext cx="5984748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מציאת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רקמת החניכיים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970782"/>
            <a:ext cx="8382000" cy="839093"/>
          </a:xfrm>
          <a:prstGeom prst="roundRect">
            <a:avLst>
              <a:gd name="adj" fmla="val 908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161282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במקרה </a:t>
            </a:r>
            <a:r>
              <a:rPr lang="en-US" sz="1050" b="1" dirty="0" err="1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r>
              <a:rPr lang="he-IL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</a:t>
            </a: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שיניים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2405063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משחירים את המרווח ביניהם ושומרים פיקסלים קרובים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981325"/>
            <a:ext cx="8382000" cy="839093"/>
          </a:xfrm>
          <a:prstGeom prst="roundRect">
            <a:avLst>
              <a:gd name="adj" fmla="val 908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317182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במקרה של רכיב יחיד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415605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 "גוף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קמור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מינימלי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(Convex Hull)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2566" y="3810"/>
            <a:ext cx="5081207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שיטת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הגוף הקמור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2834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91884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בודקים היכן יש יותר "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ריק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בתוך הגוף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הקמור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למעלה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למטה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476054"/>
            <a:ext cx="8382000" cy="839093"/>
          </a:xfrm>
          <a:prstGeom prst="roundRect">
            <a:avLst>
              <a:gd name="adj" fmla="val 908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66655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2910334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הגוף הקמור יכיל יותר אזורים ריקים בצד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החניכיים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בגלל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מבנה הקשת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הלסת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346754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467546"/>
            <a:ext cx="0" cy="59531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50342" y="3658046"/>
                <a:ext cx="8122158" cy="2143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r" rtl="1">
                  <a:lnSpc>
                    <a:spcPts val="1688"/>
                  </a:lnSpc>
                  <a:buNone/>
                </a:pPr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אם יש פער </a:t>
                </a:r>
                <a:r>
                  <a:rPr lang="en-US" sz="1125" dirty="0" err="1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מובהק</a:t>
                </a:r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he-IL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</a:t>
                </a:r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מעל66% </a:t>
                </a:r>
                <a:r>
                  <a:rPr lang="he-IL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</a:t>
                </a:r>
                <a:r>
                  <a:rPr lang="en-US" sz="1125" dirty="0" err="1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לצד</a:t>
                </a:r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25" dirty="0" err="1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אחד</a:t>
                </a:r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he-IL" sz="1125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←</m:t>
                    </m:r>
                  </m:oMath>
                </a14:m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25" dirty="0" err="1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זהו</a:t>
                </a:r>
                <a:r>
                  <a:rPr lang="en-US" sz="1125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צד החניכיים</a:t>
                </a:r>
                <a:endParaRPr lang="en-US" sz="1125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42" y="3658046"/>
                <a:ext cx="8122158" cy="214313"/>
              </a:xfrm>
              <a:prstGeom prst="rect">
                <a:avLst/>
              </a:prstGeom>
              <a:blipFill>
                <a:blip r:embed="rId3"/>
                <a:stretch>
                  <a:fillRect t="-8571" r="-1051" b="-342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6309" y="0"/>
            <a:ext cx="7797873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שלב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4: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Gingivitis Segmentation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03040"/>
            <a:ext cx="8382000" cy="645765"/>
          </a:xfrm>
          <a:prstGeom prst="roundRect">
            <a:avLst>
              <a:gd name="adj" fmla="val 11800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292" y="1912590"/>
            <a:ext cx="812215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השלב הקריטי: אבחון המחלה בפועל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501205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691705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מתבצע לאחר בידוד אזור העניין (ROI)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וסינון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שיניים ורקע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248918"/>
            <a:ext cx="8382000" cy="839093"/>
          </a:xfrm>
          <a:prstGeom prst="roundRect">
            <a:avLst>
              <a:gd name="adj" fmla="val 908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3248918"/>
            <a:ext cx="0" cy="83909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0342" y="3439418"/>
            <a:ext cx="8122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האתגר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0342" y="3683198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הבדלה בין רקמה בריאה למודלקת דורשת אבחנה דקה של גוונים ומרקמים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6651" y="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מיקוד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בפרטים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74478"/>
            <a:ext cx="8382000" cy="633413"/>
          </a:xfrm>
          <a:prstGeom prst="roundRect">
            <a:avLst>
              <a:gd name="adj" fmla="val 1203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292" y="1984028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נדרש לזהות שינויים מינוריים באדמומיות ונפיחות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579340"/>
            <a:ext cx="8382000" cy="633413"/>
          </a:xfrm>
          <a:prstGeom prst="roundRect">
            <a:avLst>
              <a:gd name="adj" fmla="val 120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2579340"/>
            <a:ext cx="0" cy="633413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9870" y="2788890"/>
            <a:ext cx="80735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גודל קלט קטן יותר (256×256)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לאפשר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למודל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להתמקד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בפרטים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הקטנים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3384203"/>
            <a:ext cx="8382000" cy="632371"/>
          </a:xfrm>
          <a:prstGeom prst="roundRect">
            <a:avLst>
              <a:gd name="adj" fmla="val 12050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292" y="3593753"/>
            <a:ext cx="81221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אומן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למשך70 </a:t>
            </a:r>
            <a:r>
              <a:rPr lang="he-I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אפוקים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7343" y="-2721"/>
            <a:ext cx="4935474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אינטגרציה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סופית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1494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905446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איחוי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קרופי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החיזוי למפה בינארית מלאה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462659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2653159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חיתוך (Intersection)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האזור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שזוהה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כ"חניכיים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בשלב 3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210371"/>
            <a:ext cx="8382000" cy="865733"/>
          </a:xfrm>
          <a:prstGeom prst="roundRect">
            <a:avLst>
              <a:gd name="adj" fmla="val 880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3210371"/>
            <a:ext cx="0" cy="865733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0058" y="3400871"/>
            <a:ext cx="8112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058" y="3671292"/>
            <a:ext cx="8112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צמצום False Positives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ומניעת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סימון שגוי של שפתיים/לשון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1343" y="0"/>
            <a:ext cx="5122027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מאגר הנתונים (Dataset)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582192"/>
            <a:ext cx="8382000" cy="786705"/>
          </a:xfrm>
          <a:prstGeom prst="roundRect">
            <a:avLst>
              <a:gd name="adj" fmla="val 968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1668" y="1753642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אימון מודל שיניים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1668" y="1997422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497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אימון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502247"/>
            <a:ext cx="8382000" cy="786705"/>
          </a:xfrm>
          <a:prstGeom prst="roundRect">
            <a:avLst>
              <a:gd name="adj" fmla="val 968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1668" y="2673697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אימון מודל דלקת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1668" y="2917478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1575"/>
              </a:lnSpc>
            </a:pP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(338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אימון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91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422303"/>
            <a:ext cx="8382000" cy="786705"/>
          </a:xfrm>
          <a:prstGeom prst="roundRect">
            <a:avLst>
              <a:gd name="adj" fmla="val 968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422303"/>
            <a:ext cx="0" cy="786705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0530" y="3593753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חיצונית (Blind Test)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0530" y="3837533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חדשות לחלוטין מצוות הרופאים לאימות קליני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4771" y="0"/>
            <a:ext cx="456628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אתגרים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רזולוציה וגודל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926431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926431"/>
            <a:ext cx="0" cy="55721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0530" y="209788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סגמנטציה דורשת דאטה רב יותר מקלאסיפיקציה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616994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616994"/>
            <a:ext cx="0" cy="55721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0530" y="2788444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ברזולוציה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עצומה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(3000×4000)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דרשו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משאבי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זיכרון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(VRAM)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כבדים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307556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307556"/>
            <a:ext cx="0" cy="55721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0530" y="3479006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גדלים לא אחידים של תמונות המקור יצרו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421" y="-2721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אתגרי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ם </a:t>
            </a: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he-IL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dirty="0" err="1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צילום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50231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850231"/>
            <a:ext cx="0" cy="595312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0342" y="2040731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סטנדרטיזציה בזוויות הצילום ובמרחק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597944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597944"/>
            <a:ext cx="0" cy="595312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0342" y="2788444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שונות גיאומטרית גבוהה מקשה על המודל לזהות תבניות קבועות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345656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345656"/>
            <a:ext cx="0" cy="595312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342" y="3536156"/>
            <a:ext cx="81221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קושי בהתמודדות עם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אביזרים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אורתודונטיים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כגון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גשר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המסתירים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את החניכיים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54507" y="3810"/>
            <a:ext cx="5013144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מדדי הערכה (Metrics)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39367"/>
            <a:ext cx="8382000" cy="960983"/>
          </a:xfrm>
          <a:prstGeom prst="roundRect">
            <a:avLst>
              <a:gd name="adj" fmla="val 792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839367"/>
            <a:ext cx="0" cy="960983"/>
          </a:xfrm>
          <a:prstGeom prst="line">
            <a:avLst/>
          </a:prstGeom>
          <a:noFill/>
          <a:ln w="476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9681" y="2067967"/>
            <a:ext cx="80347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</a:t>
            </a:r>
            <a:r>
              <a:rPr lang="he-IL" sz="12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2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(Intersection Over Union)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9681" y="2357438"/>
            <a:ext cx="80347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שטח החפיפה בין החיזוי לאמת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990850"/>
            <a:ext cx="8382000" cy="960983"/>
          </a:xfrm>
          <a:prstGeom prst="roundRect">
            <a:avLst>
              <a:gd name="adj" fmla="val 792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2990850"/>
            <a:ext cx="0" cy="960983"/>
          </a:xfrm>
          <a:prstGeom prst="line">
            <a:avLst/>
          </a:prstGeom>
          <a:noFill/>
          <a:ln w="476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9681" y="3219450"/>
            <a:ext cx="80347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9681" y="3508921"/>
            <a:ext cx="80347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רגיש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לאיזון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בין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קריטי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למשימות רפואיות</a:t>
            </a:r>
            <a:endParaRPr lang="en-US" sz="11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1990" y="0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תוצאות כמותיות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13161"/>
            <a:ext cx="8382000" cy="870496"/>
          </a:xfrm>
          <a:prstGeom prst="roundRect">
            <a:avLst>
              <a:gd name="adj" fmla="val 875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713161"/>
            <a:ext cx="0" cy="870496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0058" y="1903661"/>
            <a:ext cx="8112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שיניים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0058" y="2193131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הצלחה בהפרדה גם בתאורה לא אחידה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736056"/>
            <a:ext cx="8382000" cy="594271"/>
          </a:xfrm>
          <a:prstGeom prst="roundRect">
            <a:avLst>
              <a:gd name="adj" fmla="val 128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2736056"/>
            <a:ext cx="0" cy="594271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0058" y="2926556"/>
            <a:ext cx="8112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דלקת חניכיים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482727"/>
            <a:ext cx="8382000" cy="595313"/>
          </a:xfrm>
          <a:prstGeom prst="roundRect">
            <a:avLst>
              <a:gd name="adj" fmla="val 128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3673227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חיצונית: נרשמה ירידה קלה אך צפויה, המעידה על יכולת הכללה טובה</a:t>
            </a:r>
            <a:endParaRPr lang="en-US" sz="11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1609" y="-2721"/>
            <a:ext cx="4478845" cy="781050"/>
          </a:xfrm>
          <a:prstGeom prst="rect">
            <a:avLst/>
          </a:prstGeom>
          <a:noFill/>
          <a:ln/>
        </p:spPr>
        <p:txBody>
          <a:bodyPr wrap="square" lIns="190500" tIns="228600" rIns="190500" bIns="9525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ניתוח איכותני ומסקנות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581150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581150"/>
            <a:ext cx="0" cy="557213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0530" y="1752600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הפחתת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רעשי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ם: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מנע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סימון שגוי של שפתיים/לשון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271713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271713"/>
            <a:ext cx="0" cy="557213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0530" y="2443163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רגישות</a:t>
            </a:r>
            <a:r>
              <a:rPr lang="he-IL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זיהוי דלקות עדינות בשלבים התחלתיים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2962275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1668" y="3133725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 כי ניתן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להשתמש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</a:t>
            </a:r>
            <a:r>
              <a:rPr lang="he-IL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r>
              <a:rPr lang="he-IL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לאבחון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מדויק ללא ציוד הדמיה יקר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1000" y="3652838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1668" y="3824288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פירוק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</a:t>
            </a:r>
            <a:r>
              <a:rPr lang="he-IL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שלבים היה המפתח להצלחה</a:t>
            </a:r>
            <a:endParaRPr lang="en-US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B8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48150" y="734318"/>
            <a:ext cx="952500" cy="57150"/>
          </a:xfrm>
          <a:prstGeom prst="rect">
            <a:avLst/>
          </a:prstGeom>
          <a:solidFill>
            <a:srgbClr val="D81E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25986" y="1210568"/>
            <a:ext cx="11968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24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סיכום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561927" y="2201168"/>
            <a:ext cx="4324796" cy="13105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149" y="2201168"/>
            <a:ext cx="0" cy="1310580"/>
          </a:xfrm>
          <a:prstGeom prst="line">
            <a:avLst/>
          </a:prstGeom>
          <a:noFill/>
          <a:ln w="57150">
            <a:solidFill>
              <a:srgbClr val="FB8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0147" y="2505968"/>
            <a:ext cx="37312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מספקת כלי עזר אובייקטיבי לרופא השיניים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30147" y="2932658"/>
            <a:ext cx="37312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מאפשרת "</a:t>
            </a:r>
            <a:r>
              <a:rPr lang="en-US" sz="13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דעה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שנייה</a:t>
            </a:r>
            <a:r>
              <a:rPr lang="he-IL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ותיעוד עקבי</a:t>
            </a:r>
            <a:endParaRPr lang="en-US" sz="13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1111</Words>
  <Application>Microsoft Office PowerPoint</Application>
  <PresentationFormat>On-screen Show (16:9)</PresentationFormat>
  <Paragraphs>205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Cambria Math</vt:lpstr>
      <vt:lpstr>Georgia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Gingivitis Detection - Enhanced Design</dc:title>
  <dc:subject>PptxGenJS Presentation</dc:subject>
  <dc:creator>Amir Ezra Sorni &amp; Daniel Yehoshua</dc:creator>
  <cp:lastModifiedBy>Amir Sorani</cp:lastModifiedBy>
  <cp:revision>15</cp:revision>
  <dcterms:created xsi:type="dcterms:W3CDTF">2025-12-10T15:10:01Z</dcterms:created>
  <dcterms:modified xsi:type="dcterms:W3CDTF">2025-12-17T09:54:55Z</dcterms:modified>
</cp:coreProperties>
</file>